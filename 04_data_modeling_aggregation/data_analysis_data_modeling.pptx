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61" r:id="rId2"/>
    <p:sldId id="264" r:id="rId3"/>
    <p:sldId id="260" r:id="rId4"/>
    <p:sldId id="262" r:id="rId5"/>
    <p:sldId id="272" r:id="rId6"/>
    <p:sldId id="282" r:id="rId7"/>
    <p:sldId id="286" r:id="rId8"/>
    <p:sldId id="287" r:id="rId9"/>
    <p:sldId id="288" r:id="rId10"/>
    <p:sldId id="289" r:id="rId11"/>
    <p:sldId id="290" r:id="rId12"/>
    <p:sldId id="291" r:id="rId13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33"/>
    <a:srgbClr val="CC66FF"/>
    <a:srgbClr val="0066FF"/>
    <a:srgbClr val="000000"/>
    <a:srgbClr val="009999"/>
    <a:srgbClr val="336699"/>
    <a:srgbClr val="FFC000"/>
    <a:srgbClr val="993300"/>
    <a:srgbClr val="339966"/>
    <a:srgbClr val="3366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66192" autoAdjust="0"/>
  </p:normalViewPr>
  <p:slideViewPr>
    <p:cSldViewPr snapToGrid="0">
      <p:cViewPr varScale="1">
        <p:scale>
          <a:sx n="73" d="100"/>
          <a:sy n="73" d="100"/>
        </p:scale>
        <p:origin x="126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9EF45C-B4A1-4048-BF7F-D1617E8131EB}" type="datetimeFigureOut">
              <a:rPr lang="LID4096" smtClean="0"/>
              <a:t>02/26/2026</a:t>
            </a:fld>
            <a:endParaRPr lang="LID4096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C2D7CD-EEF3-4145-A484-A9D67FF727B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3391423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C2D7CD-EEF3-4145-A484-A9D67FF727B1}" type="slidenum">
              <a:rPr lang="LID4096" smtClean="0"/>
              <a:t>1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8114299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B0741A-758B-58F3-9547-075B3114E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3DA989-6CC3-9A30-67EF-C7AE679528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54EED0-94D8-B606-57B5-3AB1ECD84D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218964-E0E9-3EB6-75FC-8AC710386C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C2D7CD-EEF3-4145-A484-A9D67FF727B1}" type="slidenum">
              <a:rPr lang="LID4096" smtClean="0"/>
              <a:t>2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7597201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de-DE" sz="1200" b="1" dirty="0">
                <a:solidFill>
                  <a:schemeClr val="accent5">
                    <a:lumMod val="75000"/>
                  </a:schemeClr>
                </a:solidFill>
              </a:rPr>
              <a:t>Setup, Daten &amp; Datentypen</a:t>
            </a:r>
            <a:endParaRPr lang="de-DE" sz="1200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dirty="0"/>
              <a:t>Python, </a:t>
            </a:r>
            <a:r>
              <a:rPr lang="de-DE" sz="1200" dirty="0" err="1"/>
              <a:t>Jupyter</a:t>
            </a:r>
            <a:r>
              <a:rPr lang="de-DE" sz="1200" dirty="0"/>
              <a:t> Notebook, Bibliotheken installieren, </a:t>
            </a:r>
            <a:r>
              <a:rPr lang="de-DE" sz="1200" dirty="0" err="1"/>
              <a:t>VSCode</a:t>
            </a:r>
            <a:endParaRPr lang="de-DE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 err="1"/>
              <a:t>Arbeiten</a:t>
            </a:r>
            <a:r>
              <a:rPr lang="en-US" sz="1200" dirty="0"/>
              <a:t> </a:t>
            </a:r>
            <a:r>
              <a:rPr lang="en-US" sz="1200" dirty="0" err="1"/>
              <a:t>mit</a:t>
            </a:r>
            <a:r>
              <a:rPr lang="en-US" sz="1200" dirty="0"/>
              <a:t> </a:t>
            </a:r>
            <a:r>
              <a:rPr lang="en-US" sz="1200" dirty="0" err="1"/>
              <a:t>Jupyter</a:t>
            </a:r>
            <a:r>
              <a:rPr lang="en-US" sz="1200" dirty="0"/>
              <a:t> | </a:t>
            </a:r>
            <a:r>
              <a:rPr lang="de-DE" sz="1200" dirty="0"/>
              <a:t>Überblick über Datentypen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dirty="0"/>
              <a:t>Data | Information | Dataset</a:t>
            </a:r>
          </a:p>
          <a:p>
            <a:pPr>
              <a:buFont typeface="Arial" panose="020B0604020202020204" pitchFamily="34" charset="0"/>
              <a:buChar char="•"/>
            </a:pPr>
            <a:endParaRPr lang="de-DE" sz="1200" dirty="0"/>
          </a:p>
          <a:p>
            <a:pPr>
              <a:buNone/>
            </a:pPr>
            <a:r>
              <a:rPr lang="de-DE" sz="1200" b="1" dirty="0">
                <a:solidFill>
                  <a:schemeClr val="accent5">
                    <a:lumMod val="75000"/>
                  </a:schemeClr>
                </a:solidFill>
              </a:rPr>
              <a:t>Analyseziele &amp; KPIs definieren</a:t>
            </a:r>
            <a:endParaRPr lang="de-DE" sz="1200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dirty="0"/>
              <a:t>Analysefragen &amp; Ziele identifizieren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dirty="0"/>
              <a:t>KPIs mit Geschäftsentscheidungen verknüpfen</a:t>
            </a:r>
          </a:p>
          <a:p>
            <a:pPr>
              <a:buFont typeface="Arial" panose="020B0604020202020204" pitchFamily="34" charset="0"/>
              <a:buChar char="•"/>
            </a:pPr>
            <a:endParaRPr lang="de-DE" sz="1200" dirty="0"/>
          </a:p>
          <a:p>
            <a:pPr>
              <a:buNone/>
            </a:pPr>
            <a:r>
              <a:rPr lang="de-DE" sz="1200" b="1" dirty="0">
                <a:solidFill>
                  <a:schemeClr val="accent5">
                    <a:lumMod val="75000"/>
                  </a:schemeClr>
                </a:solidFill>
              </a:rPr>
              <a:t>Datenerhebung &amp; Datenqualität</a:t>
            </a:r>
            <a:endParaRPr lang="de-DE" sz="1200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dirty="0"/>
              <a:t>Daten sammeln: APIs, lokale Dateien, unstrukturierte Daten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dirty="0"/>
              <a:t>Vollständigkeit, Genauigkeit, Konsistenz prüfen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dirty="0"/>
              <a:t>Daten laden &amp; inspizieren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dirty="0"/>
              <a:t>Fehlende Werte, Duplikate, Format prüfen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1200" dirty="0"/>
          </a:p>
          <a:p>
            <a:pPr>
              <a:buNone/>
            </a:pPr>
            <a:r>
              <a:rPr lang="de-DE" sz="1200" b="1" dirty="0">
                <a:solidFill>
                  <a:schemeClr val="accent5">
                    <a:lumMod val="75000"/>
                  </a:schemeClr>
                </a:solidFill>
              </a:rPr>
              <a:t>Datenbereinigung &amp; -vorbereitung</a:t>
            </a:r>
            <a:endParaRPr lang="de-DE" sz="1200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dirty="0"/>
              <a:t>Fehlende/falsche Werte korrigieren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dirty="0"/>
              <a:t>Formate standardisieren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dirty="0"/>
              <a:t>Variablen für Analyse transformieren</a:t>
            </a:r>
          </a:p>
          <a:p>
            <a:pPr>
              <a:buNone/>
            </a:pPr>
            <a:r>
              <a:rPr lang="en-US" sz="1200" b="1" dirty="0" err="1">
                <a:solidFill>
                  <a:schemeClr val="accent5">
                    <a:lumMod val="75000"/>
                  </a:schemeClr>
                </a:solidFill>
              </a:rPr>
              <a:t>Datenmodellierung</a:t>
            </a:r>
            <a:r>
              <a:rPr lang="en-US" sz="1200" b="1" dirty="0">
                <a:solidFill>
                  <a:schemeClr val="accent5">
                    <a:lumMod val="75000"/>
                  </a:schemeClr>
                </a:solidFill>
              </a:rPr>
              <a:t> &amp; Aggregation</a:t>
            </a:r>
            <a:endParaRPr lang="en-US" sz="1200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Daten in </a:t>
            </a:r>
            <a:r>
              <a:rPr lang="en-US" sz="1200" dirty="0" err="1"/>
              <a:t>Tabellen</a:t>
            </a:r>
            <a:r>
              <a:rPr lang="en-US" sz="1200" dirty="0"/>
              <a:t> &amp; </a:t>
            </a:r>
            <a:r>
              <a:rPr lang="en-US" sz="1200" dirty="0" err="1"/>
              <a:t>Beziehungen</a:t>
            </a:r>
            <a:r>
              <a:rPr lang="en-US" sz="1200" dirty="0"/>
              <a:t> </a:t>
            </a:r>
            <a:r>
              <a:rPr lang="en-US" sz="1200" dirty="0" err="1"/>
              <a:t>organisieren</a:t>
            </a:r>
            <a:endParaRPr 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Feature Engineering &amp; </a:t>
            </a:r>
            <a:r>
              <a:rPr lang="en-US" sz="1200" dirty="0" err="1"/>
              <a:t>Aggregationen</a:t>
            </a:r>
            <a:r>
              <a:rPr lang="en-US" sz="12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200" dirty="0"/>
          </a:p>
          <a:p>
            <a:r>
              <a:rPr lang="en-US" sz="1200" b="1" dirty="0" err="1">
                <a:solidFill>
                  <a:schemeClr val="accent5">
                    <a:lumMod val="75000"/>
                  </a:schemeClr>
                </a:solidFill>
              </a:rPr>
              <a:t>Deskriptive</a:t>
            </a:r>
            <a:r>
              <a:rPr lang="en-US" sz="1200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1200" b="1" dirty="0" err="1">
                <a:solidFill>
                  <a:schemeClr val="accent5">
                    <a:lumMod val="75000"/>
                  </a:schemeClr>
                </a:solidFill>
              </a:rPr>
              <a:t>Statistik</a:t>
            </a:r>
            <a:r>
              <a:rPr lang="en-US" sz="1200" b="1" dirty="0">
                <a:solidFill>
                  <a:schemeClr val="accent5">
                    <a:lumMod val="75000"/>
                  </a:schemeClr>
                </a:solidFill>
              </a:rPr>
              <a:t> &amp; KPIs</a:t>
            </a:r>
            <a:endParaRPr lang="en-US" sz="1200" dirty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en-US" sz="1200" dirty="0" err="1"/>
              <a:t>Mittelwert</a:t>
            </a:r>
            <a:r>
              <a:rPr lang="en-US" sz="1200" dirty="0"/>
              <a:t>, Median, Modus, </a:t>
            </a:r>
            <a:r>
              <a:rPr lang="en-US" sz="1200" dirty="0" err="1"/>
              <a:t>Standardabweichung</a:t>
            </a:r>
            <a:r>
              <a:rPr lang="en-US" sz="1200" dirty="0"/>
              <a:t>, </a:t>
            </a:r>
            <a:r>
              <a:rPr lang="en-US" sz="1200" dirty="0" err="1"/>
              <a:t>Spannweite</a:t>
            </a:r>
            <a:endParaRPr lang="en-US" sz="1200" dirty="0"/>
          </a:p>
          <a:p>
            <a:r>
              <a:rPr lang="en-US" sz="1200" dirty="0" err="1"/>
              <a:t>Korrelationen</a:t>
            </a:r>
            <a:r>
              <a:rPr lang="en-US" sz="1200" dirty="0"/>
              <a:t> &amp; </a:t>
            </a:r>
            <a:r>
              <a:rPr lang="en-US" sz="1200" dirty="0" err="1"/>
              <a:t>Kreuztabellen</a:t>
            </a:r>
            <a:endParaRPr lang="en-US" sz="1200" dirty="0"/>
          </a:p>
          <a:p>
            <a:endParaRPr lang="en-US" sz="1200" dirty="0"/>
          </a:p>
          <a:p>
            <a:pPr>
              <a:buNone/>
            </a:pPr>
            <a:r>
              <a:rPr lang="en-US" sz="1200" b="1" dirty="0" err="1">
                <a:solidFill>
                  <a:schemeClr val="accent5">
                    <a:lumMod val="75000"/>
                  </a:schemeClr>
                </a:solidFill>
              </a:rPr>
              <a:t>Datenvisualisierung</a:t>
            </a:r>
            <a:endParaRPr lang="en-US" sz="1200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 err="1"/>
              <a:t>Klassische</a:t>
            </a:r>
            <a:r>
              <a:rPr lang="en-US" sz="1200" dirty="0"/>
              <a:t> </a:t>
            </a:r>
            <a:r>
              <a:rPr lang="en-US" sz="1200" dirty="0" err="1"/>
              <a:t>Diagramme</a:t>
            </a:r>
            <a:r>
              <a:rPr lang="en-US" sz="1200" dirty="0"/>
              <a:t>; </a:t>
            </a:r>
            <a:r>
              <a:rPr lang="en-US" sz="1200" dirty="0" err="1"/>
              <a:t>Balkendiagramm</a:t>
            </a:r>
            <a:r>
              <a:rPr lang="en-US" sz="1200" dirty="0"/>
              <a:t>, </a:t>
            </a:r>
            <a:r>
              <a:rPr lang="en-US" sz="1200" dirty="0" err="1"/>
              <a:t>Histogramm</a:t>
            </a:r>
            <a:r>
              <a:rPr lang="en-US" sz="1200" dirty="0"/>
              <a:t>, Boxplot, </a:t>
            </a:r>
            <a:r>
              <a:rPr lang="en-US" sz="1200" dirty="0" err="1"/>
              <a:t>Liniendiagramm</a:t>
            </a:r>
            <a:r>
              <a:rPr lang="en-US" sz="1200" dirty="0"/>
              <a:t>, </a:t>
            </a:r>
            <a:r>
              <a:rPr lang="en-US" sz="1200" dirty="0" err="1"/>
              <a:t>Streudiagramm</a:t>
            </a:r>
            <a:endParaRPr 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 err="1"/>
              <a:t>Interaktive</a:t>
            </a:r>
            <a:r>
              <a:rPr lang="en-US" sz="1200" dirty="0"/>
              <a:t> Charts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200" dirty="0"/>
          </a:p>
          <a:p>
            <a:pPr>
              <a:buNone/>
            </a:pPr>
            <a:r>
              <a:rPr lang="en-US" sz="1200" b="1" dirty="0">
                <a:solidFill>
                  <a:schemeClr val="accent5">
                    <a:lumMod val="75000"/>
                  </a:schemeClr>
                </a:solidFill>
              </a:rPr>
              <a:t>Analytics-Workflow &amp; Integration</a:t>
            </a:r>
            <a:endParaRPr lang="en-US" sz="1200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Strukturierter Workflow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Mini-</a:t>
            </a:r>
            <a:r>
              <a:rPr lang="en-US" sz="1200" dirty="0" err="1"/>
              <a:t>Fallbeispiele</a:t>
            </a:r>
            <a:r>
              <a:rPr lang="en-US" sz="1200" dirty="0"/>
              <a:t> </a:t>
            </a:r>
            <a:r>
              <a:rPr lang="en-US" sz="1200" dirty="0" err="1"/>
              <a:t>mit</a:t>
            </a:r>
            <a:r>
              <a:rPr lang="en-US" sz="1200" dirty="0"/>
              <a:t> </a:t>
            </a:r>
            <a:r>
              <a:rPr lang="en-US" sz="1200" dirty="0" err="1"/>
              <a:t>allen</a:t>
            </a:r>
            <a:r>
              <a:rPr lang="en-US" sz="1200" dirty="0"/>
              <a:t> </a:t>
            </a:r>
            <a:r>
              <a:rPr lang="en-US" sz="1200" dirty="0" err="1"/>
              <a:t>vorherigen</a:t>
            </a:r>
            <a:r>
              <a:rPr lang="en-US" sz="1200" dirty="0"/>
              <a:t> </a:t>
            </a:r>
            <a:r>
              <a:rPr lang="en-US" sz="1200" dirty="0" err="1"/>
              <a:t>Schritten</a:t>
            </a:r>
            <a:endParaRPr lang="en-US" sz="1200" dirty="0"/>
          </a:p>
          <a:p>
            <a:endParaRPr lang="en-US" sz="1200" dirty="0"/>
          </a:p>
          <a:p>
            <a:pPr>
              <a:buNone/>
            </a:pPr>
            <a:r>
              <a:rPr lang="en-US" sz="1200" b="1" dirty="0">
                <a:solidFill>
                  <a:schemeClr val="accent5">
                    <a:lumMod val="75000"/>
                  </a:schemeClr>
                </a:solidFill>
              </a:rPr>
              <a:t>Capstone End-to-End Projekt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dirty="0"/>
              <a:t>Vollständige Analyse von der Fragestellung bis zur Präsentation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dirty="0"/>
              <a:t>Alle erlernten Schritte anwenden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dirty="0"/>
              <a:t>Ergebnisse präsentieren &amp; diskutieren</a:t>
            </a:r>
            <a:endParaRPr lang="en-US" sz="1200" dirty="0">
              <a:solidFill>
                <a:schemeClr val="accent5">
                  <a:lumMod val="75000"/>
                </a:schemeClr>
              </a:solidFill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C2D7CD-EEF3-4145-A484-A9D67FF727B1}" type="slidenum">
              <a:rPr lang="LID4096" smtClean="0"/>
              <a:t>3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2484537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BBF8E1-3F98-2D4A-A187-71A87BABCD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B79535-D580-53FC-AF97-E3C06BE411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D6D207-9405-7961-89E3-DF8DAFBA29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0CA030-4A91-82F2-0663-BBAB7286E7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C2D7CD-EEF3-4145-A484-A9D67FF727B1}" type="slidenum">
              <a:rPr lang="LID4096" smtClean="0"/>
              <a:t>4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219461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4A2992-7B48-9FE1-78D7-623B019D47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40BBA3-9D65-FC71-6287-5D4924FB5E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72E1E5-197B-131C-DF3C-5A12B9A6D5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3187BA-927C-256A-7E34-B02B06FC1A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C2D7CD-EEF3-4145-A484-A9D67FF727B1}" type="slidenum">
              <a:rPr lang="LID4096" smtClean="0"/>
              <a:t>5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3463455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59B1BC-7917-719C-6801-41CACA40A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C64A32-6ABA-556F-CF89-D81EA75096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630773-CC91-9DE9-9D42-2EC9A126D4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de-DE" sz="1200" b="1" dirty="0">
                <a:solidFill>
                  <a:schemeClr val="accent5">
                    <a:lumMod val="75000"/>
                  </a:schemeClr>
                </a:solidFill>
              </a:rPr>
              <a:t>Setup, Daten &amp; Datentypen</a:t>
            </a:r>
            <a:endParaRPr lang="de-DE" sz="1200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dirty="0"/>
              <a:t>Python, </a:t>
            </a:r>
            <a:r>
              <a:rPr lang="de-DE" sz="1200" dirty="0" err="1"/>
              <a:t>Jupyter</a:t>
            </a:r>
            <a:r>
              <a:rPr lang="de-DE" sz="1200" dirty="0"/>
              <a:t> Notebook, Bibliotheken installieren, </a:t>
            </a:r>
            <a:r>
              <a:rPr lang="de-DE" sz="1200" dirty="0" err="1"/>
              <a:t>VSCode</a:t>
            </a:r>
            <a:endParaRPr lang="de-DE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 err="1"/>
              <a:t>Arbeiten</a:t>
            </a:r>
            <a:r>
              <a:rPr lang="en-US" sz="1200" dirty="0"/>
              <a:t> </a:t>
            </a:r>
            <a:r>
              <a:rPr lang="en-US" sz="1200" dirty="0" err="1"/>
              <a:t>mit</a:t>
            </a:r>
            <a:r>
              <a:rPr lang="en-US" sz="1200" dirty="0"/>
              <a:t> </a:t>
            </a:r>
            <a:r>
              <a:rPr lang="en-US" sz="1200" dirty="0" err="1"/>
              <a:t>Jupyter</a:t>
            </a:r>
            <a:r>
              <a:rPr lang="en-US" sz="1200" dirty="0"/>
              <a:t> | </a:t>
            </a:r>
            <a:r>
              <a:rPr lang="de-DE" sz="1200" dirty="0"/>
              <a:t>Überblick über Datentypen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dirty="0"/>
              <a:t>Data | Information | Dataset</a:t>
            </a:r>
          </a:p>
          <a:p>
            <a:pPr>
              <a:buFont typeface="Arial" panose="020B0604020202020204" pitchFamily="34" charset="0"/>
              <a:buChar char="•"/>
            </a:pPr>
            <a:endParaRPr lang="de-DE" sz="1200" dirty="0"/>
          </a:p>
          <a:p>
            <a:pPr>
              <a:buNone/>
            </a:pPr>
            <a:r>
              <a:rPr lang="de-DE" sz="1200" b="1" dirty="0">
                <a:solidFill>
                  <a:schemeClr val="accent5">
                    <a:lumMod val="75000"/>
                  </a:schemeClr>
                </a:solidFill>
              </a:rPr>
              <a:t>Analyseziele &amp; KPIs definieren</a:t>
            </a:r>
            <a:endParaRPr lang="de-DE" sz="1200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dirty="0"/>
              <a:t>Analysefragen &amp; Ziele identifizieren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dirty="0"/>
              <a:t>KPIs mit Geschäftsentscheidungen verknüpfen</a:t>
            </a:r>
          </a:p>
          <a:p>
            <a:pPr>
              <a:buFont typeface="Arial" panose="020B0604020202020204" pitchFamily="34" charset="0"/>
              <a:buChar char="•"/>
            </a:pPr>
            <a:endParaRPr lang="de-DE" sz="1200" dirty="0"/>
          </a:p>
          <a:p>
            <a:pPr>
              <a:buNone/>
            </a:pPr>
            <a:r>
              <a:rPr lang="de-DE" sz="1200" b="1" dirty="0">
                <a:solidFill>
                  <a:schemeClr val="accent5">
                    <a:lumMod val="75000"/>
                  </a:schemeClr>
                </a:solidFill>
              </a:rPr>
              <a:t>Datenerhebung &amp; Datenqualität</a:t>
            </a:r>
            <a:endParaRPr lang="de-DE" sz="1200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dirty="0"/>
              <a:t>Daten sammeln: APIs, lokale Dateien, unstrukturierte Daten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dirty="0"/>
              <a:t>Vollständigkeit, Genauigkeit, Konsistenz prüfen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dirty="0"/>
              <a:t>Daten laden &amp; inspizieren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dirty="0"/>
              <a:t>Fehlende Werte, Duplikate, Format prüfen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1200" dirty="0"/>
          </a:p>
          <a:p>
            <a:pPr>
              <a:buNone/>
            </a:pPr>
            <a:r>
              <a:rPr lang="de-DE" sz="1200" b="1" dirty="0">
                <a:solidFill>
                  <a:schemeClr val="accent5">
                    <a:lumMod val="75000"/>
                  </a:schemeClr>
                </a:solidFill>
              </a:rPr>
              <a:t>Datenbereinigung &amp; -vorbereitung</a:t>
            </a:r>
            <a:endParaRPr lang="de-DE" sz="1200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dirty="0"/>
              <a:t>Fehlende/falsche Werte korrigieren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dirty="0"/>
              <a:t>Formate standardisieren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dirty="0"/>
              <a:t>Variablen für Analyse transformieren</a:t>
            </a:r>
          </a:p>
          <a:p>
            <a:pPr>
              <a:buNone/>
            </a:pPr>
            <a:r>
              <a:rPr lang="en-US" sz="1200" b="1" dirty="0" err="1">
                <a:solidFill>
                  <a:schemeClr val="accent5">
                    <a:lumMod val="75000"/>
                  </a:schemeClr>
                </a:solidFill>
              </a:rPr>
              <a:t>Datenmodellierung</a:t>
            </a:r>
            <a:r>
              <a:rPr lang="en-US" sz="1200" b="1" dirty="0">
                <a:solidFill>
                  <a:schemeClr val="accent5">
                    <a:lumMod val="75000"/>
                  </a:schemeClr>
                </a:solidFill>
              </a:rPr>
              <a:t> &amp; Aggregation</a:t>
            </a:r>
            <a:endParaRPr lang="en-US" sz="1200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Daten in </a:t>
            </a:r>
            <a:r>
              <a:rPr lang="en-US" sz="1200" dirty="0" err="1"/>
              <a:t>Tabellen</a:t>
            </a:r>
            <a:r>
              <a:rPr lang="en-US" sz="1200" dirty="0"/>
              <a:t> &amp; </a:t>
            </a:r>
            <a:r>
              <a:rPr lang="en-US" sz="1200" dirty="0" err="1"/>
              <a:t>Beziehungen</a:t>
            </a:r>
            <a:r>
              <a:rPr lang="en-US" sz="1200" dirty="0"/>
              <a:t> </a:t>
            </a:r>
            <a:r>
              <a:rPr lang="en-US" sz="1200" dirty="0" err="1"/>
              <a:t>organisieren</a:t>
            </a:r>
            <a:endParaRPr 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Feature Engineering &amp; </a:t>
            </a:r>
            <a:r>
              <a:rPr lang="en-US" sz="1200" dirty="0" err="1"/>
              <a:t>Aggregationen</a:t>
            </a:r>
            <a:r>
              <a:rPr lang="en-US" sz="12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200" dirty="0"/>
          </a:p>
          <a:p>
            <a:r>
              <a:rPr lang="en-US" sz="1200" b="1" dirty="0" err="1">
                <a:solidFill>
                  <a:schemeClr val="accent5">
                    <a:lumMod val="75000"/>
                  </a:schemeClr>
                </a:solidFill>
              </a:rPr>
              <a:t>Deskriptive</a:t>
            </a:r>
            <a:r>
              <a:rPr lang="en-US" sz="1200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1200" b="1" dirty="0" err="1">
                <a:solidFill>
                  <a:schemeClr val="accent5">
                    <a:lumMod val="75000"/>
                  </a:schemeClr>
                </a:solidFill>
              </a:rPr>
              <a:t>Statistik</a:t>
            </a:r>
            <a:r>
              <a:rPr lang="en-US" sz="1200" b="1" dirty="0">
                <a:solidFill>
                  <a:schemeClr val="accent5">
                    <a:lumMod val="75000"/>
                  </a:schemeClr>
                </a:solidFill>
              </a:rPr>
              <a:t> &amp; KPIs</a:t>
            </a:r>
            <a:endParaRPr lang="en-US" sz="1200" dirty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en-US" sz="1200" dirty="0" err="1"/>
              <a:t>Mittelwert</a:t>
            </a:r>
            <a:r>
              <a:rPr lang="en-US" sz="1200" dirty="0"/>
              <a:t>, Median, Modus, </a:t>
            </a:r>
            <a:r>
              <a:rPr lang="en-US" sz="1200" dirty="0" err="1"/>
              <a:t>Standardabweichung</a:t>
            </a:r>
            <a:r>
              <a:rPr lang="en-US" sz="1200" dirty="0"/>
              <a:t>, </a:t>
            </a:r>
            <a:r>
              <a:rPr lang="en-US" sz="1200" dirty="0" err="1"/>
              <a:t>Spannweite</a:t>
            </a:r>
            <a:endParaRPr lang="en-US" sz="1200" dirty="0"/>
          </a:p>
          <a:p>
            <a:r>
              <a:rPr lang="en-US" sz="1200" dirty="0" err="1"/>
              <a:t>Korrelationen</a:t>
            </a:r>
            <a:r>
              <a:rPr lang="en-US" sz="1200" dirty="0"/>
              <a:t> &amp; </a:t>
            </a:r>
            <a:r>
              <a:rPr lang="en-US" sz="1200" dirty="0" err="1"/>
              <a:t>Kreuztabellen</a:t>
            </a:r>
            <a:endParaRPr lang="en-US" sz="1200" dirty="0"/>
          </a:p>
          <a:p>
            <a:endParaRPr lang="en-US" sz="1200" dirty="0"/>
          </a:p>
          <a:p>
            <a:pPr>
              <a:buNone/>
            </a:pPr>
            <a:r>
              <a:rPr lang="en-US" sz="1200" b="1" dirty="0" err="1">
                <a:solidFill>
                  <a:schemeClr val="accent5">
                    <a:lumMod val="75000"/>
                  </a:schemeClr>
                </a:solidFill>
              </a:rPr>
              <a:t>Datenvisualisierung</a:t>
            </a:r>
            <a:endParaRPr lang="en-US" sz="1200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 err="1"/>
              <a:t>Klassische</a:t>
            </a:r>
            <a:r>
              <a:rPr lang="en-US" sz="1200" dirty="0"/>
              <a:t> </a:t>
            </a:r>
            <a:r>
              <a:rPr lang="en-US" sz="1200" dirty="0" err="1"/>
              <a:t>Diagramme</a:t>
            </a:r>
            <a:r>
              <a:rPr lang="en-US" sz="1200" dirty="0"/>
              <a:t>; </a:t>
            </a:r>
            <a:r>
              <a:rPr lang="en-US" sz="1200" dirty="0" err="1"/>
              <a:t>Balkendiagramm</a:t>
            </a:r>
            <a:r>
              <a:rPr lang="en-US" sz="1200" dirty="0"/>
              <a:t>, </a:t>
            </a:r>
            <a:r>
              <a:rPr lang="en-US" sz="1200" dirty="0" err="1"/>
              <a:t>Histogramm</a:t>
            </a:r>
            <a:r>
              <a:rPr lang="en-US" sz="1200" dirty="0"/>
              <a:t>, Boxplot, </a:t>
            </a:r>
            <a:r>
              <a:rPr lang="en-US" sz="1200" dirty="0" err="1"/>
              <a:t>Liniendiagramm</a:t>
            </a:r>
            <a:r>
              <a:rPr lang="en-US" sz="1200" dirty="0"/>
              <a:t>, </a:t>
            </a:r>
            <a:r>
              <a:rPr lang="en-US" sz="1200" dirty="0" err="1"/>
              <a:t>Streudiagramm</a:t>
            </a:r>
            <a:endParaRPr 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 err="1"/>
              <a:t>Interaktive</a:t>
            </a:r>
            <a:r>
              <a:rPr lang="en-US" sz="1200" dirty="0"/>
              <a:t> Charts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200" dirty="0"/>
          </a:p>
          <a:p>
            <a:pPr>
              <a:buNone/>
            </a:pPr>
            <a:r>
              <a:rPr lang="en-US" sz="1200" b="1" dirty="0">
                <a:solidFill>
                  <a:schemeClr val="accent5">
                    <a:lumMod val="75000"/>
                  </a:schemeClr>
                </a:solidFill>
              </a:rPr>
              <a:t>Analytics-Workflow &amp; Integration</a:t>
            </a:r>
            <a:endParaRPr lang="en-US" sz="1200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Strukturierter Workflow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Mini-</a:t>
            </a:r>
            <a:r>
              <a:rPr lang="en-US" sz="1200" dirty="0" err="1"/>
              <a:t>Fallbeispiele</a:t>
            </a:r>
            <a:r>
              <a:rPr lang="en-US" sz="1200" dirty="0"/>
              <a:t> </a:t>
            </a:r>
            <a:r>
              <a:rPr lang="en-US" sz="1200" dirty="0" err="1"/>
              <a:t>mit</a:t>
            </a:r>
            <a:r>
              <a:rPr lang="en-US" sz="1200" dirty="0"/>
              <a:t> </a:t>
            </a:r>
            <a:r>
              <a:rPr lang="en-US" sz="1200" dirty="0" err="1"/>
              <a:t>allen</a:t>
            </a:r>
            <a:r>
              <a:rPr lang="en-US" sz="1200" dirty="0"/>
              <a:t> </a:t>
            </a:r>
            <a:r>
              <a:rPr lang="en-US" sz="1200" dirty="0" err="1"/>
              <a:t>vorherigen</a:t>
            </a:r>
            <a:r>
              <a:rPr lang="en-US" sz="1200" dirty="0"/>
              <a:t> </a:t>
            </a:r>
            <a:r>
              <a:rPr lang="en-US" sz="1200" dirty="0" err="1"/>
              <a:t>Schritten</a:t>
            </a:r>
            <a:endParaRPr lang="en-US" sz="1200" dirty="0"/>
          </a:p>
          <a:p>
            <a:endParaRPr lang="en-US" sz="1200" dirty="0"/>
          </a:p>
          <a:p>
            <a:pPr>
              <a:buNone/>
            </a:pPr>
            <a:r>
              <a:rPr lang="en-US" sz="1200" b="1" dirty="0">
                <a:solidFill>
                  <a:schemeClr val="accent5">
                    <a:lumMod val="75000"/>
                  </a:schemeClr>
                </a:solidFill>
              </a:rPr>
              <a:t>Capstone End-to-End Projekt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dirty="0"/>
              <a:t>Vollständige Analyse von der Fragestellung bis zur Präsentation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dirty="0"/>
              <a:t>Alle erlernten Schritte anwenden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dirty="0"/>
              <a:t>Ergebnisse präsentieren &amp; diskutieren</a:t>
            </a:r>
            <a:endParaRPr lang="en-US" sz="1200" dirty="0">
              <a:solidFill>
                <a:schemeClr val="accent5">
                  <a:lumMod val="75000"/>
                </a:schemeClr>
              </a:solidFill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32769D-F669-F967-1F60-5D38ECF712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C2D7CD-EEF3-4145-A484-A9D67FF727B1}" type="slidenum">
              <a:rPr lang="LID4096" smtClean="0"/>
              <a:t>6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2168540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DCEEDA-EDD2-146B-C230-41E5AEA752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051277-24C8-868E-CEC7-CC3E6A74B3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873086-0E77-558F-DDB6-B46C3E5CB3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de-DE" sz="1200" b="1" dirty="0">
                <a:solidFill>
                  <a:schemeClr val="accent5">
                    <a:lumMod val="75000"/>
                  </a:schemeClr>
                </a:solidFill>
              </a:rPr>
              <a:t>Setup, Daten &amp; Datentypen</a:t>
            </a:r>
            <a:endParaRPr lang="de-DE" sz="1200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dirty="0"/>
              <a:t>Python, </a:t>
            </a:r>
            <a:r>
              <a:rPr lang="de-DE" sz="1200" dirty="0" err="1"/>
              <a:t>Jupyter</a:t>
            </a:r>
            <a:r>
              <a:rPr lang="de-DE" sz="1200" dirty="0"/>
              <a:t> Notebook, Bibliotheken installieren, </a:t>
            </a:r>
            <a:r>
              <a:rPr lang="de-DE" sz="1200" dirty="0" err="1"/>
              <a:t>VSCode</a:t>
            </a:r>
            <a:endParaRPr lang="de-DE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 err="1"/>
              <a:t>Arbeiten</a:t>
            </a:r>
            <a:r>
              <a:rPr lang="en-US" sz="1200" dirty="0"/>
              <a:t> </a:t>
            </a:r>
            <a:r>
              <a:rPr lang="en-US" sz="1200" dirty="0" err="1"/>
              <a:t>mit</a:t>
            </a:r>
            <a:r>
              <a:rPr lang="en-US" sz="1200" dirty="0"/>
              <a:t> </a:t>
            </a:r>
            <a:r>
              <a:rPr lang="en-US" sz="1200" dirty="0" err="1"/>
              <a:t>Jupyter</a:t>
            </a:r>
            <a:r>
              <a:rPr lang="en-US" sz="1200" dirty="0"/>
              <a:t> | </a:t>
            </a:r>
            <a:r>
              <a:rPr lang="de-DE" sz="1200" dirty="0"/>
              <a:t>Überblick über Datentypen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dirty="0"/>
              <a:t>Data | Information | Dataset</a:t>
            </a:r>
          </a:p>
          <a:p>
            <a:pPr>
              <a:buFont typeface="Arial" panose="020B0604020202020204" pitchFamily="34" charset="0"/>
              <a:buChar char="•"/>
            </a:pPr>
            <a:endParaRPr lang="de-DE" sz="1200" dirty="0"/>
          </a:p>
          <a:p>
            <a:pPr>
              <a:buNone/>
            </a:pPr>
            <a:r>
              <a:rPr lang="de-DE" sz="1200" b="1" dirty="0">
                <a:solidFill>
                  <a:schemeClr val="accent5">
                    <a:lumMod val="75000"/>
                  </a:schemeClr>
                </a:solidFill>
              </a:rPr>
              <a:t>Analyseziele &amp; KPIs definieren</a:t>
            </a:r>
            <a:endParaRPr lang="de-DE" sz="1200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dirty="0"/>
              <a:t>Analysefragen &amp; Ziele identifizieren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dirty="0"/>
              <a:t>KPIs mit Geschäftsentscheidungen verknüpfen</a:t>
            </a:r>
          </a:p>
          <a:p>
            <a:pPr>
              <a:buFont typeface="Arial" panose="020B0604020202020204" pitchFamily="34" charset="0"/>
              <a:buChar char="•"/>
            </a:pPr>
            <a:endParaRPr lang="de-DE" sz="1200" dirty="0"/>
          </a:p>
          <a:p>
            <a:pPr>
              <a:buNone/>
            </a:pPr>
            <a:r>
              <a:rPr lang="de-DE" sz="1200" b="1" dirty="0">
                <a:solidFill>
                  <a:schemeClr val="accent5">
                    <a:lumMod val="75000"/>
                  </a:schemeClr>
                </a:solidFill>
              </a:rPr>
              <a:t>Datenerhebung &amp; Datenqualität</a:t>
            </a:r>
            <a:endParaRPr lang="de-DE" sz="1200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dirty="0"/>
              <a:t>Daten sammeln: APIs, lokale Dateien, unstrukturierte Daten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dirty="0"/>
              <a:t>Vollständigkeit, Genauigkeit, Konsistenz prüfen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dirty="0"/>
              <a:t>Daten laden &amp; inspizieren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dirty="0"/>
              <a:t>Fehlende Werte, Duplikate, Format prüfen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1200" dirty="0"/>
          </a:p>
          <a:p>
            <a:pPr>
              <a:buNone/>
            </a:pPr>
            <a:r>
              <a:rPr lang="de-DE" sz="1200" b="1" dirty="0">
                <a:solidFill>
                  <a:schemeClr val="accent5">
                    <a:lumMod val="75000"/>
                  </a:schemeClr>
                </a:solidFill>
              </a:rPr>
              <a:t>Datenbereinigung &amp; -vorbereitung</a:t>
            </a:r>
            <a:endParaRPr lang="de-DE" sz="1200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dirty="0"/>
              <a:t>Fehlende/falsche Werte korrigieren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dirty="0"/>
              <a:t>Formate standardisieren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dirty="0"/>
              <a:t>Variablen für Analyse transformieren</a:t>
            </a:r>
          </a:p>
          <a:p>
            <a:pPr>
              <a:buNone/>
            </a:pPr>
            <a:r>
              <a:rPr lang="en-US" sz="1200" b="1" dirty="0" err="1">
                <a:solidFill>
                  <a:schemeClr val="accent5">
                    <a:lumMod val="75000"/>
                  </a:schemeClr>
                </a:solidFill>
              </a:rPr>
              <a:t>Datenmodellierung</a:t>
            </a:r>
            <a:r>
              <a:rPr lang="en-US" sz="1200" b="1" dirty="0">
                <a:solidFill>
                  <a:schemeClr val="accent5">
                    <a:lumMod val="75000"/>
                  </a:schemeClr>
                </a:solidFill>
              </a:rPr>
              <a:t> &amp; Aggregation</a:t>
            </a:r>
            <a:endParaRPr lang="en-US" sz="1200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Daten in </a:t>
            </a:r>
            <a:r>
              <a:rPr lang="en-US" sz="1200" dirty="0" err="1"/>
              <a:t>Tabellen</a:t>
            </a:r>
            <a:r>
              <a:rPr lang="en-US" sz="1200" dirty="0"/>
              <a:t> &amp; </a:t>
            </a:r>
            <a:r>
              <a:rPr lang="en-US" sz="1200" dirty="0" err="1"/>
              <a:t>Beziehungen</a:t>
            </a:r>
            <a:r>
              <a:rPr lang="en-US" sz="1200" dirty="0"/>
              <a:t> </a:t>
            </a:r>
            <a:r>
              <a:rPr lang="en-US" sz="1200" dirty="0" err="1"/>
              <a:t>organisieren</a:t>
            </a:r>
            <a:endParaRPr 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Feature Engineering &amp; </a:t>
            </a:r>
            <a:r>
              <a:rPr lang="en-US" sz="1200" dirty="0" err="1"/>
              <a:t>Aggregationen</a:t>
            </a:r>
            <a:r>
              <a:rPr lang="en-US" sz="12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200" dirty="0"/>
          </a:p>
          <a:p>
            <a:r>
              <a:rPr lang="en-US" sz="1200" b="1" dirty="0" err="1">
                <a:solidFill>
                  <a:schemeClr val="accent5">
                    <a:lumMod val="75000"/>
                  </a:schemeClr>
                </a:solidFill>
              </a:rPr>
              <a:t>Deskriptive</a:t>
            </a:r>
            <a:r>
              <a:rPr lang="en-US" sz="1200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1200" b="1" dirty="0" err="1">
                <a:solidFill>
                  <a:schemeClr val="accent5">
                    <a:lumMod val="75000"/>
                  </a:schemeClr>
                </a:solidFill>
              </a:rPr>
              <a:t>Statistik</a:t>
            </a:r>
            <a:r>
              <a:rPr lang="en-US" sz="1200" b="1" dirty="0">
                <a:solidFill>
                  <a:schemeClr val="accent5">
                    <a:lumMod val="75000"/>
                  </a:schemeClr>
                </a:solidFill>
              </a:rPr>
              <a:t> &amp; KPIs</a:t>
            </a:r>
            <a:endParaRPr lang="en-US" sz="1200" dirty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en-US" sz="1200" dirty="0" err="1"/>
              <a:t>Mittelwert</a:t>
            </a:r>
            <a:r>
              <a:rPr lang="en-US" sz="1200" dirty="0"/>
              <a:t>, Median, Modus, </a:t>
            </a:r>
            <a:r>
              <a:rPr lang="en-US" sz="1200" dirty="0" err="1"/>
              <a:t>Standardabweichung</a:t>
            </a:r>
            <a:r>
              <a:rPr lang="en-US" sz="1200" dirty="0"/>
              <a:t>, </a:t>
            </a:r>
            <a:r>
              <a:rPr lang="en-US" sz="1200" dirty="0" err="1"/>
              <a:t>Spannweite</a:t>
            </a:r>
            <a:endParaRPr lang="en-US" sz="1200" dirty="0"/>
          </a:p>
          <a:p>
            <a:r>
              <a:rPr lang="en-US" sz="1200" dirty="0" err="1"/>
              <a:t>Korrelationen</a:t>
            </a:r>
            <a:r>
              <a:rPr lang="en-US" sz="1200" dirty="0"/>
              <a:t> &amp; </a:t>
            </a:r>
            <a:r>
              <a:rPr lang="en-US" sz="1200" dirty="0" err="1"/>
              <a:t>Kreuztabellen</a:t>
            </a:r>
            <a:endParaRPr lang="en-US" sz="1200" dirty="0"/>
          </a:p>
          <a:p>
            <a:endParaRPr lang="en-US" sz="1200" dirty="0"/>
          </a:p>
          <a:p>
            <a:pPr>
              <a:buNone/>
            </a:pPr>
            <a:r>
              <a:rPr lang="en-US" sz="1200" b="1" dirty="0" err="1">
                <a:solidFill>
                  <a:schemeClr val="accent5">
                    <a:lumMod val="75000"/>
                  </a:schemeClr>
                </a:solidFill>
              </a:rPr>
              <a:t>Datenvisualisierung</a:t>
            </a:r>
            <a:endParaRPr lang="en-US" sz="1200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 err="1"/>
              <a:t>Klassische</a:t>
            </a:r>
            <a:r>
              <a:rPr lang="en-US" sz="1200" dirty="0"/>
              <a:t> </a:t>
            </a:r>
            <a:r>
              <a:rPr lang="en-US" sz="1200" dirty="0" err="1"/>
              <a:t>Diagramme</a:t>
            </a:r>
            <a:r>
              <a:rPr lang="en-US" sz="1200" dirty="0"/>
              <a:t>; </a:t>
            </a:r>
            <a:r>
              <a:rPr lang="en-US" sz="1200" dirty="0" err="1"/>
              <a:t>Balkendiagramm</a:t>
            </a:r>
            <a:r>
              <a:rPr lang="en-US" sz="1200" dirty="0"/>
              <a:t>, </a:t>
            </a:r>
            <a:r>
              <a:rPr lang="en-US" sz="1200" dirty="0" err="1"/>
              <a:t>Histogramm</a:t>
            </a:r>
            <a:r>
              <a:rPr lang="en-US" sz="1200" dirty="0"/>
              <a:t>, Boxplot, </a:t>
            </a:r>
            <a:r>
              <a:rPr lang="en-US" sz="1200" dirty="0" err="1"/>
              <a:t>Liniendiagramm</a:t>
            </a:r>
            <a:r>
              <a:rPr lang="en-US" sz="1200" dirty="0"/>
              <a:t>, </a:t>
            </a:r>
            <a:r>
              <a:rPr lang="en-US" sz="1200" dirty="0" err="1"/>
              <a:t>Streudiagramm</a:t>
            </a:r>
            <a:endParaRPr 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 err="1"/>
              <a:t>Interaktive</a:t>
            </a:r>
            <a:r>
              <a:rPr lang="en-US" sz="1200" dirty="0"/>
              <a:t> Charts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200" dirty="0"/>
          </a:p>
          <a:p>
            <a:pPr>
              <a:buNone/>
            </a:pPr>
            <a:r>
              <a:rPr lang="en-US" sz="1200" b="1" dirty="0">
                <a:solidFill>
                  <a:schemeClr val="accent5">
                    <a:lumMod val="75000"/>
                  </a:schemeClr>
                </a:solidFill>
              </a:rPr>
              <a:t>Analytics-Workflow &amp; Integration</a:t>
            </a:r>
            <a:endParaRPr lang="en-US" sz="1200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Strukturierter Workflow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Mini-</a:t>
            </a:r>
            <a:r>
              <a:rPr lang="en-US" sz="1200" dirty="0" err="1"/>
              <a:t>Fallbeispiele</a:t>
            </a:r>
            <a:r>
              <a:rPr lang="en-US" sz="1200" dirty="0"/>
              <a:t> </a:t>
            </a:r>
            <a:r>
              <a:rPr lang="en-US" sz="1200" dirty="0" err="1"/>
              <a:t>mit</a:t>
            </a:r>
            <a:r>
              <a:rPr lang="en-US" sz="1200" dirty="0"/>
              <a:t> </a:t>
            </a:r>
            <a:r>
              <a:rPr lang="en-US" sz="1200" dirty="0" err="1"/>
              <a:t>allen</a:t>
            </a:r>
            <a:r>
              <a:rPr lang="en-US" sz="1200" dirty="0"/>
              <a:t> </a:t>
            </a:r>
            <a:r>
              <a:rPr lang="en-US" sz="1200" dirty="0" err="1"/>
              <a:t>vorherigen</a:t>
            </a:r>
            <a:r>
              <a:rPr lang="en-US" sz="1200" dirty="0"/>
              <a:t> </a:t>
            </a:r>
            <a:r>
              <a:rPr lang="en-US" sz="1200" dirty="0" err="1"/>
              <a:t>Schritten</a:t>
            </a:r>
            <a:endParaRPr lang="en-US" sz="1200" dirty="0"/>
          </a:p>
          <a:p>
            <a:endParaRPr lang="en-US" sz="1200" dirty="0"/>
          </a:p>
          <a:p>
            <a:pPr>
              <a:buNone/>
            </a:pPr>
            <a:r>
              <a:rPr lang="en-US" sz="1200" b="1" dirty="0">
                <a:solidFill>
                  <a:schemeClr val="accent5">
                    <a:lumMod val="75000"/>
                  </a:schemeClr>
                </a:solidFill>
              </a:rPr>
              <a:t>Capstone End-to-End Projekt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dirty="0"/>
              <a:t>Vollständige Analyse von der Fragestellung bis zur Präsentation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dirty="0"/>
              <a:t>Alle erlernten Schritte anwenden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dirty="0"/>
              <a:t>Ergebnisse präsentieren &amp; diskutieren</a:t>
            </a:r>
            <a:endParaRPr lang="en-US" sz="1200" dirty="0">
              <a:solidFill>
                <a:schemeClr val="accent5">
                  <a:lumMod val="75000"/>
                </a:schemeClr>
              </a:solidFill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C96ED6-76BC-1AF7-F6FD-73C419B367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C2D7CD-EEF3-4145-A484-A9D67FF727B1}" type="slidenum">
              <a:rPr lang="LID4096" smtClean="0"/>
              <a:t>7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8056240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C2D7CD-EEF3-4145-A484-A9D67FF727B1}" type="slidenum">
              <a:rPr lang="LID4096" smtClean="0"/>
              <a:t>8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4104912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C2D7CD-EEF3-4145-A484-A9D67FF727B1}" type="slidenum">
              <a:rPr lang="LID4096" smtClean="0"/>
              <a:t>12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567662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29595-AE29-8F78-6250-FE6DBB183C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FB830E-06C9-E616-457D-0469587FD3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5EFBF3-5437-9432-6F3C-E9696BAED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A3FF9-0028-4556-8BB5-EE36D45F941B}" type="datetimeFigureOut">
              <a:rPr lang="LID4096" smtClean="0"/>
              <a:t>02/26/2026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B8D0A7-A4B8-8D6A-B20D-D4EED41F2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D5C235-37A2-169F-89F1-6CEEDE742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0C1A5-03DE-470F-9F9D-57755EEE9BE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638156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4B3155-3098-3396-23EF-4D00FB95E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07B2B4-2744-4FA6-1DCE-04083BE85C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1AA7CE-1D79-8F9E-2161-29793B3BE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A3FF9-0028-4556-8BB5-EE36D45F941B}" type="datetimeFigureOut">
              <a:rPr lang="LID4096" smtClean="0"/>
              <a:t>02/26/2026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9907A2-F4AA-C22D-91E7-6BACD48B7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7D31A0-F851-DC6F-6FAE-179D6AAB0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0C1A5-03DE-470F-9F9D-57755EEE9BE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4489880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2BBF6-43C8-1202-C842-3AEB0A792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0E51AA-9DDF-9B9E-C7A3-804260F616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36152C-741A-690F-95E2-4CEEA150F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A3FF9-0028-4556-8BB5-EE36D45F941B}" type="datetimeFigureOut">
              <a:rPr lang="LID4096" smtClean="0"/>
              <a:t>02/26/2026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3A4312-5CEF-0E6E-F0FC-2158396D8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8BCB96-F2F1-AD45-314A-F5DA65628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0C1A5-03DE-470F-9F9D-57755EEE9BE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2720849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98164-1E83-B846-266B-64E7E0347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F46D78-13A3-57B9-A9E6-4C101CB19A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E8BB16-6D83-DE01-79A2-554AB22A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3EB16E-8897-8C72-0C20-5DC3F49B6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A3FF9-0028-4556-8BB5-EE36D45F941B}" type="datetimeFigureOut">
              <a:rPr lang="LID4096" smtClean="0"/>
              <a:t>02/26/2026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438E4E-E4C2-594D-0EE2-5C3B7396D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2E9FD8-C8E1-4BD4-A517-B0ADD5159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0C1A5-03DE-470F-9F9D-57755EEE9BE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79200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16434-7761-D029-FB66-4F80A49D20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BCFE8E-4227-8C0A-BD8C-41F2C2A454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8F3CFA-B49D-50D6-2E0E-49392FCB21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4E9783-D65C-C0F6-AABC-EF1ECF7CC0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DFE071-5FD8-2DB5-E332-AC4CDBA99E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52764CB-223F-2456-6217-BD105CBD3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A3FF9-0028-4556-8BB5-EE36D45F941B}" type="datetimeFigureOut">
              <a:rPr lang="LID4096" smtClean="0"/>
              <a:t>02/26/2026</a:t>
            </a:fld>
            <a:endParaRPr lang="LID4096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2D3798B-ECD3-32E9-9B74-6D761E3AA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DE2443F-87BD-CFD1-8A4C-CA0D911EB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0C1A5-03DE-470F-9F9D-57755EEE9BE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617134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7B514-5C0F-91C8-9086-96E98E2BA4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3467521-6441-49DD-657C-A9F9ECCEB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A3FF9-0028-4556-8BB5-EE36D45F941B}" type="datetimeFigureOut">
              <a:rPr lang="LID4096" smtClean="0"/>
              <a:t>02/26/2026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29684F-ADC5-40EE-29F5-352B32B7C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67310E-84BC-1668-4738-8C6506C2F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0C1A5-03DE-470F-9F9D-57755EEE9BE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3327300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5B1DE42-EFFF-52A5-9069-2558A0606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A3FF9-0028-4556-8BB5-EE36D45F941B}" type="datetimeFigureOut">
              <a:rPr lang="LID4096" smtClean="0"/>
              <a:t>02/26/2026</a:t>
            </a:fld>
            <a:endParaRPr lang="LID4096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36EE09-01B8-5E7D-A9AC-ECED38920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683AEB-9C93-CF86-D334-CE30895D0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0C1A5-03DE-470F-9F9D-57755EEE9BE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6514036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63A1B-8068-C274-CEAF-492A5CC6B1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BADB75-B5C7-6302-3091-FF95734906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C3D8E1-0759-B964-DB0B-A80FF1603C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68116D-4DFE-FAC6-4C4B-A53BD3CFD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A3FF9-0028-4556-8BB5-EE36D45F941B}" type="datetimeFigureOut">
              <a:rPr lang="LID4096" smtClean="0"/>
              <a:t>02/26/2026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CF31FB-ED89-D4B0-A7DA-C57424FED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EEBD40-61C2-7E15-336F-F34935FD7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0C1A5-03DE-470F-9F9D-57755EEE9BE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6304793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610F3-140C-EFEB-F2FA-739E5E7D7B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DEE401B-004D-0780-B8E4-3F1FB20EAB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3150E9-B00B-0542-A850-0B34BE69F1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8DC802-98E2-7466-6330-337163929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A3FF9-0028-4556-8BB5-EE36D45F941B}" type="datetimeFigureOut">
              <a:rPr lang="LID4096" smtClean="0"/>
              <a:t>02/26/2026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BEB337-7B9A-EE26-F59D-F3FBC68BD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A4C702-6F8D-DDAE-83A4-E9A2ADCE2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0C1A5-03DE-470F-9F9D-57755EEE9BE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1903858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30964-B1E6-1C1B-491D-8D87B5307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AA3D5C-B633-CC1B-AA44-E499C1CBEB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2A48F7-B899-0EA5-94AE-D4B3533A6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A3FF9-0028-4556-8BB5-EE36D45F941B}" type="datetimeFigureOut">
              <a:rPr lang="LID4096" smtClean="0"/>
              <a:t>02/26/2026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C3F8E2-1843-33D6-C8C9-6A5720DFF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9F2A81-7DFE-29D5-C375-A137C2555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0C1A5-03DE-470F-9F9D-57755EEE9BE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8636028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A90F015-E7EA-2A69-6323-A3EB90C827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3ACB86-CF84-A074-9A1F-2F408DD4E0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830080-38B2-3A79-5209-5EEE297BD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A3FF9-0028-4556-8BB5-EE36D45F941B}" type="datetimeFigureOut">
              <a:rPr lang="LID4096" smtClean="0"/>
              <a:t>02/26/2026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0CF3C8-BDA0-EBA1-09D5-D77B02FE4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AC075F-0BE7-8E63-5582-D8F0FED4B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0C1A5-03DE-470F-9F9D-57755EEE9BE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7556576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C28348-1E0F-4158-DFB4-4EF9E0692A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552730-C780-711F-8EC9-A46588BC7B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9E76EE-5EE3-0069-FE21-07534E8C34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5A3FF9-0028-4556-8BB5-EE36D45F941B}" type="datetimeFigureOut">
              <a:rPr lang="LID4096" smtClean="0"/>
              <a:t>02/26/2026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7AFFDE-209F-EABB-F557-E838A5D21E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654F25-00E5-EC11-F2EE-A05BD6D651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60C1A5-03DE-470F-9F9D-57755EEE9BE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319469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10" Type="http://schemas.openxmlformats.org/officeDocument/2006/relationships/image" Target="../media/image18.svg"/><Relationship Id="rId4" Type="http://schemas.openxmlformats.org/officeDocument/2006/relationships/image" Target="../media/image12.svg"/><Relationship Id="rId9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4C98E5-5A49-760C-EC35-E81E4300AD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177685-C07F-EFB7-72F1-1422DCA0C09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8000" b="1" dirty="0" err="1">
                <a:solidFill>
                  <a:schemeClr val="accent1">
                    <a:lumMod val="75000"/>
                  </a:schemeClr>
                </a:solidFill>
              </a:rPr>
              <a:t>Datenanalyse</a:t>
            </a:r>
            <a:br>
              <a:rPr lang="en-US" sz="8000" b="1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sz="2400" b="1" dirty="0"/>
              <a:t>Data Analysis</a:t>
            </a:r>
            <a:endParaRPr lang="LID4096" sz="8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98E596-E0F4-E60F-E73A-05489C07A5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989213"/>
          </a:xfrm>
        </p:spPr>
        <p:txBody>
          <a:bodyPr>
            <a:normAutofit fontScale="47500" lnSpcReduction="20000"/>
          </a:bodyPr>
          <a:lstStyle/>
          <a:p>
            <a:br>
              <a:rPr lang="en-US" sz="3600" b="1" dirty="0"/>
            </a:br>
            <a:r>
              <a:rPr lang="en-US" sz="12600" b="1" dirty="0" err="1"/>
              <a:t>Grundlagen</a:t>
            </a:r>
            <a:endParaRPr lang="LID4096" sz="3600" b="1" dirty="0"/>
          </a:p>
        </p:txBody>
      </p:sp>
    </p:spTree>
    <p:extLst>
      <p:ext uri="{BB962C8B-B14F-4D97-AF65-F5344CB8AC3E}">
        <p14:creationId xmlns:p14="http://schemas.microsoft.com/office/powerpoint/2010/main" val="21121754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F06911-A5E2-6F03-201D-9F3FC9B111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0AAC8A20-FCDD-73E8-BA54-E9DE3D1863F8}"/>
              </a:ext>
            </a:extLst>
          </p:cNvPr>
          <p:cNvSpPr txBox="1"/>
          <p:nvPr/>
        </p:nvSpPr>
        <p:spPr>
          <a:xfrm>
            <a:off x="2493169" y="272534"/>
            <a:ext cx="692046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 err="1"/>
              <a:t>Methodische</a:t>
            </a:r>
            <a:r>
              <a:rPr lang="en-US" sz="2800" b="1" dirty="0"/>
              <a:t> </a:t>
            </a:r>
            <a:r>
              <a:rPr lang="en-US" sz="2800" b="1" dirty="0" err="1"/>
              <a:t>Grundlagen</a:t>
            </a:r>
            <a:r>
              <a:rPr lang="en-US" sz="2800" b="1" dirty="0"/>
              <a:t> der </a:t>
            </a:r>
            <a:r>
              <a:rPr lang="en-US" sz="2800" b="1" dirty="0" err="1"/>
              <a:t>Datenanalyse</a:t>
            </a:r>
            <a:endParaRPr lang="LID4096" sz="28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7056EDA-F70E-5862-5364-54C75A7BDA07}"/>
              </a:ext>
            </a:extLst>
          </p:cNvPr>
          <p:cNvSpPr txBox="1"/>
          <p:nvPr/>
        </p:nvSpPr>
        <p:spPr>
          <a:xfrm>
            <a:off x="10803467" y="47193"/>
            <a:ext cx="12998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process</a:t>
            </a:r>
            <a:endParaRPr lang="LID4096" dirty="0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401BBE8A-38DE-BEAC-0233-05229AC7506A}"/>
              </a:ext>
            </a:extLst>
          </p:cNvPr>
          <p:cNvSpPr/>
          <p:nvPr/>
        </p:nvSpPr>
        <p:spPr>
          <a:xfrm>
            <a:off x="496213" y="1024616"/>
            <a:ext cx="2067374" cy="4833257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pic>
        <p:nvPicPr>
          <p:cNvPr id="31" name="Graphic 30" descr="Question mark">
            <a:extLst>
              <a:ext uri="{FF2B5EF4-FFF2-40B4-BE49-F238E27FC236}">
                <a16:creationId xmlns:a16="http://schemas.microsoft.com/office/drawing/2014/main" id="{70393C53-2048-FE4C-CE55-054342C613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2700" y="1455763"/>
            <a:ext cx="914400" cy="914400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847A8AEF-C94D-DFBC-0EEC-8A5BF4A02607}"/>
              </a:ext>
            </a:extLst>
          </p:cNvPr>
          <p:cNvSpPr txBox="1"/>
          <p:nvPr/>
        </p:nvSpPr>
        <p:spPr>
          <a:xfrm>
            <a:off x="776675" y="2512330"/>
            <a:ext cx="1506450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err="1"/>
              <a:t>Fragestellung</a:t>
            </a:r>
            <a:endParaRPr lang="en-US" sz="1600" b="1" dirty="0"/>
          </a:p>
          <a:p>
            <a:endParaRPr lang="en-US" sz="1600" dirty="0"/>
          </a:p>
          <a:p>
            <a:pPr algn="ctr"/>
            <a:r>
              <a:rPr lang="de-DE" sz="1400" dirty="0"/>
              <a:t>Festlegung des Problems</a:t>
            </a:r>
          </a:p>
          <a:p>
            <a:pPr algn="ctr"/>
            <a:endParaRPr lang="de-DE" sz="1400" dirty="0"/>
          </a:p>
          <a:p>
            <a:pPr algn="ctr"/>
            <a:r>
              <a:rPr lang="en-US" sz="1400" dirty="0" err="1"/>
              <a:t>Bestimmung</a:t>
            </a:r>
            <a:r>
              <a:rPr lang="en-US" sz="1400" dirty="0"/>
              <a:t> der </a:t>
            </a:r>
            <a:r>
              <a:rPr lang="en-US" sz="1400" dirty="0" err="1"/>
              <a:t>relevanten</a:t>
            </a:r>
            <a:r>
              <a:rPr lang="en-US" sz="1400" dirty="0"/>
              <a:t> </a:t>
            </a:r>
            <a:r>
              <a:rPr lang="en-US" sz="1400" dirty="0" err="1"/>
              <a:t>Kennzahlen</a:t>
            </a:r>
            <a:endParaRPr lang="en-US" sz="1400" dirty="0"/>
          </a:p>
          <a:p>
            <a:pPr algn="ctr"/>
            <a:endParaRPr lang="en-US" sz="1400" dirty="0"/>
          </a:p>
          <a:p>
            <a:pPr algn="ctr"/>
            <a:r>
              <a:rPr lang="en-US" sz="1400" dirty="0"/>
              <a:t>Was </a:t>
            </a:r>
            <a:r>
              <a:rPr lang="en-US" sz="1400" dirty="0" err="1"/>
              <a:t>treibt</a:t>
            </a:r>
            <a:r>
              <a:rPr lang="en-US" sz="1400" dirty="0"/>
              <a:t> die Kunden </a:t>
            </a:r>
            <a:r>
              <a:rPr lang="en-US" sz="1400" dirty="0" err="1"/>
              <a:t>zufriedenheit</a:t>
            </a:r>
            <a:r>
              <a:rPr lang="en-US" sz="1400" dirty="0"/>
              <a:t>?</a:t>
            </a:r>
            <a:endParaRPr lang="LID4096" sz="1400" dirty="0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E4294CBF-CC7D-A6AD-1FA6-99B8EDA354E3}"/>
              </a:ext>
            </a:extLst>
          </p:cNvPr>
          <p:cNvSpPr/>
          <p:nvPr/>
        </p:nvSpPr>
        <p:spPr>
          <a:xfrm>
            <a:off x="2771466" y="1024616"/>
            <a:ext cx="2067374" cy="4833257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DDCB6697-0643-8D84-F464-D9CF5FBF1E6D}"/>
              </a:ext>
            </a:extLst>
          </p:cNvPr>
          <p:cNvGrpSpPr/>
          <p:nvPr/>
        </p:nvGrpSpPr>
        <p:grpSpPr>
          <a:xfrm>
            <a:off x="2802728" y="1455763"/>
            <a:ext cx="2004850" cy="3118670"/>
            <a:chOff x="2521648" y="1455763"/>
            <a:chExt cx="2004850" cy="3118670"/>
          </a:xfrm>
        </p:grpSpPr>
        <p:pic>
          <p:nvPicPr>
            <p:cNvPr id="35" name="Graphic 34" descr="Database">
              <a:extLst>
                <a:ext uri="{FF2B5EF4-FFF2-40B4-BE49-F238E27FC236}">
                  <a16:creationId xmlns:a16="http://schemas.microsoft.com/office/drawing/2014/main" id="{377AE0B0-9940-D905-D8CF-6929A0FB939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066873" y="1455763"/>
              <a:ext cx="914400" cy="914400"/>
            </a:xfrm>
            <a:prstGeom prst="rect">
              <a:avLst/>
            </a:prstGeom>
          </p:spPr>
        </p:pic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1BB8D6E9-DBC5-4B58-5AE5-3D747D84E715}"/>
                </a:ext>
              </a:extLst>
            </p:cNvPr>
            <p:cNvSpPr txBox="1"/>
            <p:nvPr/>
          </p:nvSpPr>
          <p:spPr>
            <a:xfrm>
              <a:off x="2521648" y="2512330"/>
              <a:ext cx="2004850" cy="20621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600" b="1" dirty="0"/>
                <a:t>Erhebung</a:t>
              </a:r>
            </a:p>
            <a:p>
              <a:pPr algn="ctr"/>
              <a:endParaRPr lang="de-DE" sz="1400" dirty="0"/>
            </a:p>
            <a:p>
              <a:pPr algn="ctr"/>
              <a:r>
                <a:rPr lang="de-DE" sz="1400" dirty="0"/>
                <a:t>Sammlung von Daten</a:t>
              </a:r>
            </a:p>
            <a:p>
              <a:pPr algn="ctr"/>
              <a:r>
                <a:rPr lang="de-DE" sz="1400" dirty="0"/>
                <a:t>Datenbanken, APIs, Web </a:t>
              </a:r>
              <a:r>
                <a:rPr lang="de-DE" sz="1400" dirty="0" err="1"/>
                <a:t>Scraping</a:t>
              </a:r>
              <a:endParaRPr lang="de-DE" sz="1400" dirty="0"/>
            </a:p>
            <a:p>
              <a:pPr algn="ctr"/>
              <a:endParaRPr lang="de-DE" sz="1400" dirty="0"/>
            </a:p>
            <a:p>
              <a:pPr algn="ctr"/>
              <a:r>
                <a:rPr lang="en-US" sz="1400" dirty="0" err="1"/>
                <a:t>Produktbewertungen</a:t>
              </a:r>
              <a:endParaRPr lang="en-US" sz="1400" dirty="0"/>
            </a:p>
            <a:p>
              <a:pPr algn="ctr"/>
              <a:r>
                <a:rPr lang="en-US" sz="1400" dirty="0" err="1"/>
                <a:t>Lieferzeiten</a:t>
              </a:r>
              <a:endParaRPr lang="en-US" sz="1400" dirty="0"/>
            </a:p>
            <a:p>
              <a:pPr algn="ctr"/>
              <a:r>
                <a:rPr lang="en-US" sz="1400" dirty="0" err="1"/>
                <a:t>Preise</a:t>
              </a:r>
              <a:r>
                <a:rPr lang="en-US" sz="1400" dirty="0"/>
                <a:t> &amp; </a:t>
              </a:r>
              <a:r>
                <a:rPr lang="en-US" sz="1400" dirty="0" err="1"/>
                <a:t>Rabatte</a:t>
              </a:r>
              <a:endParaRPr lang="en-US" sz="1400" dirty="0"/>
            </a:p>
          </p:txBody>
        </p:sp>
      </p:grp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DC560BAA-B555-E917-2DD2-B086E3B94B85}"/>
              </a:ext>
            </a:extLst>
          </p:cNvPr>
          <p:cNvSpPr/>
          <p:nvPr/>
        </p:nvSpPr>
        <p:spPr>
          <a:xfrm>
            <a:off x="5046719" y="1024616"/>
            <a:ext cx="2067374" cy="4833257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pic>
        <p:nvPicPr>
          <p:cNvPr id="38" name="Graphic 37" descr="Checklist">
            <a:extLst>
              <a:ext uri="{FF2B5EF4-FFF2-40B4-BE49-F238E27FC236}">
                <a16:creationId xmlns:a16="http://schemas.microsoft.com/office/drawing/2014/main" id="{79C85BAC-7E8F-C2D3-D0F2-2AC9C669E99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623206" y="1455763"/>
            <a:ext cx="914400" cy="914400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D865E7A7-88CE-7122-773F-13AD1D10BABF}"/>
              </a:ext>
            </a:extLst>
          </p:cNvPr>
          <p:cNvSpPr txBox="1"/>
          <p:nvPr/>
        </p:nvSpPr>
        <p:spPr>
          <a:xfrm>
            <a:off x="5077981" y="2512330"/>
            <a:ext cx="2004850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b="1" dirty="0"/>
              <a:t>Vorbereitung</a:t>
            </a:r>
          </a:p>
          <a:p>
            <a:pPr algn="ctr"/>
            <a:endParaRPr lang="de-DE" sz="1400" dirty="0"/>
          </a:p>
          <a:p>
            <a:pPr algn="ctr"/>
            <a:r>
              <a:rPr lang="de-DE" sz="1400" dirty="0"/>
              <a:t>Bereinigung Fehlende Werte oder unvollständiger Daten</a:t>
            </a:r>
          </a:p>
          <a:p>
            <a:pPr algn="ctr"/>
            <a:endParaRPr lang="de-DE" sz="1400" dirty="0"/>
          </a:p>
          <a:p>
            <a:pPr algn="ctr"/>
            <a:r>
              <a:rPr lang="de-DE" sz="1400" dirty="0"/>
              <a:t>Transformation und </a:t>
            </a:r>
            <a:r>
              <a:rPr lang="de-DE" sz="1400" dirty="0" err="1"/>
              <a:t>strukturierung</a:t>
            </a:r>
            <a:r>
              <a:rPr lang="de-DE" sz="1400" dirty="0"/>
              <a:t> der Rohdaten</a:t>
            </a:r>
          </a:p>
          <a:p>
            <a:pPr algn="ctr"/>
            <a:endParaRPr lang="de-DE" sz="1400" dirty="0"/>
          </a:p>
          <a:p>
            <a:pPr algn="ctr"/>
            <a:r>
              <a:rPr lang="de-DE" sz="1400" dirty="0" err="1"/>
              <a:t>Z.b.</a:t>
            </a:r>
            <a:r>
              <a:rPr lang="de-DE" sz="1400" dirty="0"/>
              <a:t> EUR, USD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EA26673D-789D-538C-7ECF-BD249C0457C8}"/>
              </a:ext>
            </a:extLst>
          </p:cNvPr>
          <p:cNvSpPr/>
          <p:nvPr/>
        </p:nvSpPr>
        <p:spPr>
          <a:xfrm>
            <a:off x="7321972" y="1012371"/>
            <a:ext cx="2067374" cy="4833257"/>
          </a:xfrm>
          <a:prstGeom prst="roundRect">
            <a:avLst/>
          </a:prstGeom>
          <a:solidFill>
            <a:srgbClr val="9999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pic>
        <p:nvPicPr>
          <p:cNvPr id="41" name="Graphic 40" descr="Research">
            <a:extLst>
              <a:ext uri="{FF2B5EF4-FFF2-40B4-BE49-F238E27FC236}">
                <a16:creationId xmlns:a16="http://schemas.microsoft.com/office/drawing/2014/main" id="{4C8FF617-5522-CDB4-5692-99C9F3C2E43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898459" y="1455763"/>
            <a:ext cx="914400" cy="914400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CE527BC7-284B-088A-B0F0-AA3F210C7BC0}"/>
              </a:ext>
            </a:extLst>
          </p:cNvPr>
          <p:cNvSpPr txBox="1"/>
          <p:nvPr/>
        </p:nvSpPr>
        <p:spPr>
          <a:xfrm>
            <a:off x="7353234" y="2512330"/>
            <a:ext cx="2004850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b="1" dirty="0"/>
              <a:t>Analyse</a:t>
            </a:r>
          </a:p>
          <a:p>
            <a:pPr algn="ctr"/>
            <a:endParaRPr lang="de-DE" sz="1400" dirty="0"/>
          </a:p>
          <a:p>
            <a:pPr algn="ctr"/>
            <a:r>
              <a:rPr lang="en-US" sz="1400" dirty="0" err="1"/>
              <a:t>Statistische</a:t>
            </a:r>
            <a:r>
              <a:rPr lang="en-US" sz="1400" dirty="0"/>
              <a:t> </a:t>
            </a:r>
            <a:r>
              <a:rPr lang="en-US" sz="1400" dirty="0" err="1"/>
              <a:t>Auswertung</a:t>
            </a:r>
            <a:r>
              <a:rPr lang="en-US" sz="1400" dirty="0"/>
              <a:t> </a:t>
            </a:r>
          </a:p>
          <a:p>
            <a:pPr algn="ctr"/>
            <a:endParaRPr lang="de-DE" sz="1400" dirty="0"/>
          </a:p>
          <a:p>
            <a:pPr algn="ctr"/>
            <a:r>
              <a:rPr lang="de-DE" sz="1400" dirty="0"/>
              <a:t>Korrelationen</a:t>
            </a:r>
          </a:p>
          <a:p>
            <a:pPr algn="ctr"/>
            <a:endParaRPr lang="de-DE" sz="1400" dirty="0"/>
          </a:p>
          <a:p>
            <a:pPr algn="ctr"/>
            <a:r>
              <a:rPr lang="de-DE" sz="1400" dirty="0"/>
              <a:t>Mustererkennung</a:t>
            </a:r>
          </a:p>
          <a:p>
            <a:pPr algn="ctr"/>
            <a:endParaRPr lang="de-DE" sz="1400" dirty="0"/>
          </a:p>
          <a:p>
            <a:pPr algn="ctr"/>
            <a:r>
              <a:rPr lang="de-DE" sz="1400" dirty="0"/>
              <a:t>Anwendung von Modellen zur</a:t>
            </a:r>
          </a:p>
          <a:p>
            <a:pPr algn="ctr"/>
            <a:r>
              <a:rPr lang="de-DE" sz="1400" dirty="0"/>
              <a:t>Erkenntnisgewinnung</a:t>
            </a:r>
            <a:endParaRPr lang="LID4096" sz="1400" dirty="0"/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7FDBEC20-9558-8F71-ED61-2146B97FF8FF}"/>
              </a:ext>
            </a:extLst>
          </p:cNvPr>
          <p:cNvSpPr/>
          <p:nvPr/>
        </p:nvSpPr>
        <p:spPr>
          <a:xfrm>
            <a:off x="9597223" y="1024616"/>
            <a:ext cx="2067374" cy="4833257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pic>
        <p:nvPicPr>
          <p:cNvPr id="44" name="Graphic 43" descr="Share">
            <a:extLst>
              <a:ext uri="{FF2B5EF4-FFF2-40B4-BE49-F238E27FC236}">
                <a16:creationId xmlns:a16="http://schemas.microsoft.com/office/drawing/2014/main" id="{0598B757-8FCB-68A3-4E22-C1A5B19FC18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173710" y="1455763"/>
            <a:ext cx="914400" cy="914400"/>
          </a:xfrm>
          <a:prstGeom prst="rect">
            <a:avLst/>
          </a:prstGeom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359A93B4-76D7-0305-9872-2FCEBF929737}"/>
              </a:ext>
            </a:extLst>
          </p:cNvPr>
          <p:cNvSpPr txBox="1"/>
          <p:nvPr/>
        </p:nvSpPr>
        <p:spPr>
          <a:xfrm>
            <a:off x="9628485" y="2512330"/>
            <a:ext cx="2004850" cy="2277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b="1" dirty="0"/>
              <a:t>Teilen</a:t>
            </a:r>
          </a:p>
          <a:p>
            <a:pPr algn="ctr"/>
            <a:endParaRPr lang="de-DE" sz="1400" dirty="0"/>
          </a:p>
          <a:p>
            <a:pPr algn="ctr"/>
            <a:r>
              <a:rPr lang="de-DE" sz="1400" dirty="0"/>
              <a:t>Berichte</a:t>
            </a:r>
          </a:p>
          <a:p>
            <a:pPr algn="ctr"/>
            <a:endParaRPr lang="de-DE" sz="1400" dirty="0"/>
          </a:p>
          <a:p>
            <a:pPr algn="ctr"/>
            <a:r>
              <a:rPr lang="de-DE" sz="1400" dirty="0"/>
              <a:t>Präsentationen</a:t>
            </a:r>
          </a:p>
          <a:p>
            <a:pPr algn="ctr"/>
            <a:endParaRPr lang="de-DE" sz="1400" dirty="0"/>
          </a:p>
          <a:p>
            <a:pPr algn="ctr"/>
            <a:r>
              <a:rPr lang="en-US" sz="1400" dirty="0"/>
              <a:t>Storytelling </a:t>
            </a:r>
            <a:r>
              <a:rPr lang="en-US" sz="1400" dirty="0" err="1"/>
              <a:t>mit</a:t>
            </a:r>
            <a:r>
              <a:rPr lang="en-US" sz="1400" dirty="0"/>
              <a:t> Daten</a:t>
            </a:r>
          </a:p>
          <a:p>
            <a:pPr algn="ctr"/>
            <a:endParaRPr lang="en-US" sz="1400" dirty="0"/>
          </a:p>
          <a:p>
            <a:pPr algn="ctr"/>
            <a:r>
              <a:rPr lang="en-US" sz="1400" dirty="0"/>
              <a:t>Klare </a:t>
            </a:r>
            <a:r>
              <a:rPr lang="en-US" sz="1400" dirty="0" err="1"/>
              <a:t>Empfehlungen</a:t>
            </a:r>
            <a:r>
              <a:rPr lang="en-US" sz="1400" dirty="0"/>
              <a:t> </a:t>
            </a:r>
            <a:r>
              <a:rPr lang="en-US" sz="1400" dirty="0" err="1"/>
              <a:t>geben</a:t>
            </a:r>
            <a:endParaRPr lang="LID4096" sz="1400" dirty="0"/>
          </a:p>
        </p:txBody>
      </p:sp>
    </p:spTree>
    <p:extLst>
      <p:ext uri="{BB962C8B-B14F-4D97-AF65-F5344CB8AC3E}">
        <p14:creationId xmlns:p14="http://schemas.microsoft.com/office/powerpoint/2010/main" val="38361502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524F6DF1-AF8B-B5EC-EC2F-2A121854376C}"/>
              </a:ext>
            </a:extLst>
          </p:cNvPr>
          <p:cNvSpPr txBox="1"/>
          <p:nvPr/>
        </p:nvSpPr>
        <p:spPr>
          <a:xfrm>
            <a:off x="358375" y="1490503"/>
            <a:ext cx="609668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de-DE" sz="1400" b="1" dirty="0">
                <a:solidFill>
                  <a:schemeClr val="accent5">
                    <a:lumMod val="75000"/>
                  </a:schemeClr>
                </a:solidFill>
              </a:rPr>
              <a:t>Setup, Daten &amp; Datentypen</a:t>
            </a:r>
            <a:endParaRPr lang="de-DE" sz="1400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Python, </a:t>
            </a:r>
            <a:r>
              <a:rPr lang="de-DE" sz="1400" dirty="0" err="1"/>
              <a:t>Jupyter</a:t>
            </a:r>
            <a:r>
              <a:rPr lang="de-DE" sz="1400" dirty="0"/>
              <a:t> Notebook, Bibliotheken installieren, </a:t>
            </a:r>
            <a:r>
              <a:rPr lang="de-DE" sz="1400" dirty="0" err="1"/>
              <a:t>VSCode</a:t>
            </a:r>
            <a:endParaRPr lang="de-DE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Arbeiten</a:t>
            </a:r>
            <a:r>
              <a:rPr lang="en-US" sz="1400" dirty="0"/>
              <a:t> </a:t>
            </a:r>
            <a:r>
              <a:rPr lang="en-US" sz="1400" dirty="0" err="1"/>
              <a:t>mit</a:t>
            </a:r>
            <a:r>
              <a:rPr lang="en-US" sz="1400" dirty="0"/>
              <a:t> </a:t>
            </a:r>
            <a:r>
              <a:rPr lang="en-US" sz="1400" dirty="0" err="1"/>
              <a:t>Jupyter</a:t>
            </a:r>
            <a:r>
              <a:rPr lang="en-US" sz="1400" dirty="0"/>
              <a:t> | </a:t>
            </a:r>
            <a:r>
              <a:rPr lang="de-DE" sz="1400" dirty="0"/>
              <a:t>Überblick über Datentypen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Data | Information | Dataset</a:t>
            </a:r>
          </a:p>
          <a:p>
            <a:pPr>
              <a:buFont typeface="Arial" panose="020B0604020202020204" pitchFamily="34" charset="0"/>
              <a:buChar char="•"/>
            </a:pPr>
            <a:endParaRPr lang="de-DE" sz="1400" dirty="0"/>
          </a:p>
          <a:p>
            <a:pPr>
              <a:buNone/>
            </a:pPr>
            <a:r>
              <a:rPr lang="de-DE" sz="1400" b="1" dirty="0">
                <a:solidFill>
                  <a:schemeClr val="accent5">
                    <a:lumMod val="75000"/>
                  </a:schemeClr>
                </a:solidFill>
              </a:rPr>
              <a:t>Analyseziele &amp; KPIs definieren</a:t>
            </a:r>
            <a:endParaRPr lang="de-DE" sz="1400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Analysefragen &amp; Ziele identifizieren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KPIs mit Geschäftsentscheidungen verknüpfen</a:t>
            </a:r>
          </a:p>
          <a:p>
            <a:pPr>
              <a:buFont typeface="Arial" panose="020B0604020202020204" pitchFamily="34" charset="0"/>
              <a:buChar char="•"/>
            </a:pPr>
            <a:endParaRPr lang="de-DE" sz="1400" dirty="0"/>
          </a:p>
          <a:p>
            <a:pPr>
              <a:buNone/>
            </a:pPr>
            <a:r>
              <a:rPr lang="de-DE" sz="1400" b="1" dirty="0">
                <a:solidFill>
                  <a:schemeClr val="accent5">
                    <a:lumMod val="75000"/>
                  </a:schemeClr>
                </a:solidFill>
              </a:rPr>
              <a:t>Datenerhebung &amp; Datenqualität</a:t>
            </a:r>
            <a:endParaRPr lang="de-DE" sz="1400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Daten sammeln: APIs, lokale Dateien, unstrukturierte Daten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Vollständigkeit, Genauigkeit, Konsistenz prüfen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Daten laden &amp; inspizieren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Fehlende Werte, Duplikate, Format prüfen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1400" dirty="0"/>
          </a:p>
          <a:p>
            <a:pPr>
              <a:buNone/>
            </a:pPr>
            <a:r>
              <a:rPr lang="de-DE" sz="1400" b="1" dirty="0">
                <a:solidFill>
                  <a:schemeClr val="accent5">
                    <a:lumMod val="75000"/>
                  </a:schemeClr>
                </a:solidFill>
              </a:rPr>
              <a:t>Datenbereinigung &amp; -vorbereitung</a:t>
            </a:r>
            <a:endParaRPr lang="de-DE" sz="1400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Fehlende/falsche Werte korrigieren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Formate standardisieren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Variablen für Analyse transformieren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8DBAAF1-C0D6-B182-1588-C698583090A2}"/>
              </a:ext>
            </a:extLst>
          </p:cNvPr>
          <p:cNvSpPr txBox="1"/>
          <p:nvPr/>
        </p:nvSpPr>
        <p:spPr>
          <a:xfrm>
            <a:off x="5950910" y="1490503"/>
            <a:ext cx="6096680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1" dirty="0" err="1">
                <a:solidFill>
                  <a:schemeClr val="accent5">
                    <a:lumMod val="75000"/>
                  </a:schemeClr>
                </a:solidFill>
              </a:rPr>
              <a:t>Datenmodellierung</a:t>
            </a:r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 &amp; Aggregation</a:t>
            </a:r>
            <a:endParaRPr lang="en-US" sz="1400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Daten in </a:t>
            </a:r>
            <a:r>
              <a:rPr lang="en-US" sz="1400" dirty="0" err="1"/>
              <a:t>Tabellen</a:t>
            </a:r>
            <a:r>
              <a:rPr lang="en-US" sz="1400" dirty="0"/>
              <a:t> &amp; </a:t>
            </a:r>
            <a:r>
              <a:rPr lang="en-US" sz="1400" dirty="0" err="1"/>
              <a:t>Beziehungen</a:t>
            </a:r>
            <a:r>
              <a:rPr lang="en-US" sz="1400" dirty="0"/>
              <a:t> </a:t>
            </a:r>
            <a:r>
              <a:rPr lang="en-US" sz="1400" dirty="0" err="1"/>
              <a:t>organisieren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Feature Engineering &amp; </a:t>
            </a:r>
            <a:r>
              <a:rPr lang="en-US" sz="1400" dirty="0" err="1"/>
              <a:t>Aggregationen</a:t>
            </a:r>
            <a:r>
              <a:rPr lang="en-US" sz="14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400" dirty="0"/>
          </a:p>
          <a:p>
            <a:r>
              <a:rPr lang="en-US" sz="1400" b="1" dirty="0" err="1">
                <a:solidFill>
                  <a:schemeClr val="accent5">
                    <a:lumMod val="75000"/>
                  </a:schemeClr>
                </a:solidFill>
              </a:rPr>
              <a:t>Deskriptive</a:t>
            </a:r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1400" b="1" dirty="0" err="1">
                <a:solidFill>
                  <a:schemeClr val="accent5">
                    <a:lumMod val="75000"/>
                  </a:schemeClr>
                </a:solidFill>
              </a:rPr>
              <a:t>Statistik</a:t>
            </a:r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 &amp; KPIs</a:t>
            </a:r>
            <a:endParaRPr lang="en-US" sz="1400" dirty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en-US" sz="1400" dirty="0" err="1"/>
              <a:t>Mittelwert</a:t>
            </a:r>
            <a:r>
              <a:rPr lang="en-US" sz="1400" dirty="0"/>
              <a:t>, Median, Modus, </a:t>
            </a:r>
            <a:r>
              <a:rPr lang="en-US" sz="1400" dirty="0" err="1"/>
              <a:t>Standardabweichung</a:t>
            </a:r>
            <a:r>
              <a:rPr lang="en-US" sz="1400" dirty="0"/>
              <a:t>, </a:t>
            </a:r>
            <a:r>
              <a:rPr lang="en-US" sz="1400" dirty="0" err="1"/>
              <a:t>Spannweite</a:t>
            </a:r>
            <a:endParaRPr lang="en-US" sz="1400" dirty="0"/>
          </a:p>
          <a:p>
            <a:r>
              <a:rPr lang="en-US" sz="1400" dirty="0" err="1"/>
              <a:t>Korrelationen</a:t>
            </a:r>
            <a:r>
              <a:rPr lang="en-US" sz="1400" dirty="0"/>
              <a:t> &amp; </a:t>
            </a:r>
            <a:r>
              <a:rPr lang="en-US" sz="1400" dirty="0" err="1"/>
              <a:t>Kreuztabellen</a:t>
            </a:r>
            <a:endParaRPr lang="en-US" sz="1400" dirty="0"/>
          </a:p>
          <a:p>
            <a:endParaRPr lang="en-US" sz="1400" dirty="0"/>
          </a:p>
          <a:p>
            <a:pPr>
              <a:buNone/>
            </a:pPr>
            <a:r>
              <a:rPr lang="en-US" sz="1400" b="1" dirty="0" err="1">
                <a:solidFill>
                  <a:schemeClr val="accent5">
                    <a:lumMod val="75000"/>
                  </a:schemeClr>
                </a:solidFill>
              </a:rPr>
              <a:t>Datenvisualisierung</a:t>
            </a:r>
            <a:endParaRPr lang="en-US" sz="1400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Klassische</a:t>
            </a:r>
            <a:r>
              <a:rPr lang="en-US" sz="1400" dirty="0"/>
              <a:t> </a:t>
            </a:r>
            <a:r>
              <a:rPr lang="en-US" sz="1400" dirty="0" err="1"/>
              <a:t>Diagramme</a:t>
            </a:r>
            <a:r>
              <a:rPr lang="en-US" sz="1400" dirty="0"/>
              <a:t>; </a:t>
            </a:r>
            <a:r>
              <a:rPr lang="en-US" sz="1400" dirty="0" err="1"/>
              <a:t>Balkendiagramm</a:t>
            </a:r>
            <a:r>
              <a:rPr lang="en-US" sz="1400" dirty="0"/>
              <a:t>, </a:t>
            </a:r>
            <a:r>
              <a:rPr lang="en-US" sz="1400" dirty="0" err="1"/>
              <a:t>Histogramm</a:t>
            </a:r>
            <a:r>
              <a:rPr lang="en-US" sz="1400" dirty="0"/>
              <a:t>, Boxplot, </a:t>
            </a:r>
            <a:r>
              <a:rPr lang="en-US" sz="1400" dirty="0" err="1"/>
              <a:t>Liniendiagramm</a:t>
            </a:r>
            <a:r>
              <a:rPr lang="en-US" sz="1400" dirty="0"/>
              <a:t>, </a:t>
            </a:r>
            <a:r>
              <a:rPr lang="en-US" sz="1400" dirty="0" err="1"/>
              <a:t>Streudiagramm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Interaktive</a:t>
            </a:r>
            <a:r>
              <a:rPr lang="en-US" sz="1400" dirty="0"/>
              <a:t> Charts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400" dirty="0"/>
          </a:p>
          <a:p>
            <a:pPr>
              <a:buNone/>
            </a:pPr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Analytics-Workflow &amp; Integration</a:t>
            </a:r>
            <a:endParaRPr lang="en-US" sz="1400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Strukturierter Workflow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Mini-</a:t>
            </a:r>
            <a:r>
              <a:rPr lang="en-US" sz="1400" dirty="0" err="1"/>
              <a:t>Fallbeispiele</a:t>
            </a:r>
            <a:r>
              <a:rPr lang="en-US" sz="1400" dirty="0"/>
              <a:t> </a:t>
            </a:r>
            <a:r>
              <a:rPr lang="en-US" sz="1400" dirty="0" err="1"/>
              <a:t>mit</a:t>
            </a:r>
            <a:r>
              <a:rPr lang="en-US" sz="1400" dirty="0"/>
              <a:t> </a:t>
            </a:r>
            <a:r>
              <a:rPr lang="en-US" sz="1400" dirty="0" err="1"/>
              <a:t>allen</a:t>
            </a:r>
            <a:r>
              <a:rPr lang="en-US" sz="1400" dirty="0"/>
              <a:t> </a:t>
            </a:r>
            <a:r>
              <a:rPr lang="en-US" sz="1400" dirty="0" err="1"/>
              <a:t>vorherigen</a:t>
            </a:r>
            <a:r>
              <a:rPr lang="en-US" sz="1400" dirty="0"/>
              <a:t> </a:t>
            </a:r>
            <a:r>
              <a:rPr lang="en-US" sz="1400" dirty="0" err="1"/>
              <a:t>Schritten</a:t>
            </a:r>
            <a:endParaRPr lang="en-US" sz="1400" dirty="0"/>
          </a:p>
          <a:p>
            <a:endParaRPr lang="en-US" sz="1400" dirty="0"/>
          </a:p>
          <a:p>
            <a:pPr>
              <a:buNone/>
            </a:pPr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Capstone End-to-End Projekt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Vollständige Analyse von der Fragestellung bis zur Präsentation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Alle erlernten Schritte anwenden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Ergebnisse präsentieren &amp; diskutieren</a:t>
            </a:r>
            <a:endParaRPr lang="en-US" sz="14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45A6950-109D-6924-5D77-32AA072B8DCF}"/>
              </a:ext>
            </a:extLst>
          </p:cNvPr>
          <p:cNvSpPr txBox="1"/>
          <p:nvPr/>
        </p:nvSpPr>
        <p:spPr>
          <a:xfrm>
            <a:off x="2493169" y="272534"/>
            <a:ext cx="692046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 err="1"/>
              <a:t>Methodische</a:t>
            </a:r>
            <a:r>
              <a:rPr lang="en-US" sz="2800" b="1" dirty="0"/>
              <a:t> </a:t>
            </a:r>
            <a:r>
              <a:rPr lang="en-US" sz="2800" b="1" dirty="0" err="1"/>
              <a:t>Grundlagen</a:t>
            </a:r>
            <a:r>
              <a:rPr lang="en-US" sz="2800" b="1" dirty="0"/>
              <a:t> der </a:t>
            </a:r>
            <a:r>
              <a:rPr lang="en-US" sz="2800" b="1" dirty="0" err="1"/>
              <a:t>Datenanalyse</a:t>
            </a:r>
            <a:endParaRPr lang="LID4096" sz="2800" dirty="0"/>
          </a:p>
        </p:txBody>
      </p:sp>
    </p:spTree>
    <p:extLst>
      <p:ext uri="{BB962C8B-B14F-4D97-AF65-F5344CB8AC3E}">
        <p14:creationId xmlns:p14="http://schemas.microsoft.com/office/powerpoint/2010/main" val="2940549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6156AC-30C4-2912-C852-F8A9E4A740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7AE1D1E8-BB27-9F07-6D1A-519FABFBAFBE}"/>
              </a:ext>
            </a:extLst>
          </p:cNvPr>
          <p:cNvSpPr txBox="1"/>
          <p:nvPr/>
        </p:nvSpPr>
        <p:spPr>
          <a:xfrm>
            <a:off x="358375" y="1490503"/>
            <a:ext cx="609668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de-DE" sz="1400" b="1" dirty="0">
                <a:solidFill>
                  <a:schemeClr val="accent6">
                    <a:lumMod val="75000"/>
                  </a:schemeClr>
                </a:solidFill>
              </a:rPr>
              <a:t>Setup, Daten &amp; Datentypen</a:t>
            </a:r>
            <a:endParaRPr lang="de-DE" sz="1400" dirty="0">
              <a:solidFill>
                <a:schemeClr val="accent6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b="1" dirty="0">
                <a:solidFill>
                  <a:schemeClr val="accent6">
                    <a:lumMod val="75000"/>
                  </a:schemeClr>
                </a:solidFill>
              </a:rPr>
              <a:t>Python, </a:t>
            </a:r>
            <a:r>
              <a:rPr lang="de-DE" sz="1400" b="1" dirty="0" err="1">
                <a:solidFill>
                  <a:schemeClr val="accent6">
                    <a:lumMod val="75000"/>
                  </a:schemeClr>
                </a:solidFill>
              </a:rPr>
              <a:t>Jupyter</a:t>
            </a:r>
            <a:r>
              <a:rPr lang="de-DE" sz="1400" b="1" dirty="0">
                <a:solidFill>
                  <a:schemeClr val="accent6">
                    <a:lumMod val="75000"/>
                  </a:schemeClr>
                </a:solidFill>
              </a:rPr>
              <a:t> Notebook, Bibliotheken installieren, </a:t>
            </a:r>
            <a:r>
              <a:rPr lang="de-DE" sz="1400" b="1" dirty="0" err="1">
                <a:solidFill>
                  <a:schemeClr val="accent6">
                    <a:lumMod val="75000"/>
                  </a:schemeClr>
                </a:solidFill>
              </a:rPr>
              <a:t>VSCode</a:t>
            </a:r>
            <a:endParaRPr lang="de-DE" sz="1400" b="1" dirty="0">
              <a:solidFill>
                <a:schemeClr val="accent6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 err="1">
                <a:solidFill>
                  <a:schemeClr val="accent6">
                    <a:lumMod val="75000"/>
                  </a:schemeClr>
                </a:solidFill>
              </a:rPr>
              <a:t>Arbeiten</a:t>
            </a:r>
            <a:r>
              <a:rPr lang="en-US" sz="14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1400" b="1" dirty="0" err="1">
                <a:solidFill>
                  <a:schemeClr val="accent6">
                    <a:lumMod val="75000"/>
                  </a:schemeClr>
                </a:solidFill>
              </a:rPr>
              <a:t>mit</a:t>
            </a:r>
            <a:r>
              <a:rPr lang="en-US" sz="14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1400" b="1" dirty="0" err="1">
                <a:solidFill>
                  <a:schemeClr val="accent6">
                    <a:lumMod val="75000"/>
                  </a:schemeClr>
                </a:solidFill>
              </a:rPr>
              <a:t>Jupyter</a:t>
            </a:r>
            <a:r>
              <a:rPr lang="en-US" sz="1400" b="1" dirty="0">
                <a:solidFill>
                  <a:schemeClr val="accent6">
                    <a:lumMod val="75000"/>
                  </a:schemeClr>
                </a:solidFill>
              </a:rPr>
              <a:t> | </a:t>
            </a:r>
            <a:r>
              <a:rPr lang="de-DE" sz="1400" b="1" dirty="0">
                <a:solidFill>
                  <a:schemeClr val="accent6">
                    <a:lumMod val="75000"/>
                  </a:schemeClr>
                </a:solidFill>
              </a:rPr>
              <a:t>Überblick über Datentypen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b="1" dirty="0">
                <a:solidFill>
                  <a:schemeClr val="accent6">
                    <a:lumMod val="75000"/>
                  </a:schemeClr>
                </a:solidFill>
              </a:rPr>
              <a:t>Data | Information | Dataset</a:t>
            </a:r>
          </a:p>
          <a:p>
            <a:pPr>
              <a:buFont typeface="Arial" panose="020B0604020202020204" pitchFamily="34" charset="0"/>
              <a:buChar char="•"/>
            </a:pPr>
            <a:endParaRPr lang="de-DE" sz="1400" dirty="0"/>
          </a:p>
          <a:p>
            <a:pPr>
              <a:buNone/>
            </a:pPr>
            <a:r>
              <a:rPr lang="de-DE" sz="1600" b="1" dirty="0">
                <a:solidFill>
                  <a:srgbClr val="FF9933"/>
                </a:solidFill>
              </a:rPr>
              <a:t>Analyseziele &amp; KPIs definieren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b="1" dirty="0"/>
              <a:t>Analysefragen &amp; Ziele identifizieren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b="1" dirty="0"/>
              <a:t>KPIs mit Geschäftsentscheidungen verknüpfen</a:t>
            </a:r>
          </a:p>
          <a:p>
            <a:pPr>
              <a:buFont typeface="Arial" panose="020B0604020202020204" pitchFamily="34" charset="0"/>
              <a:buChar char="•"/>
            </a:pPr>
            <a:endParaRPr lang="de-DE" sz="1400" dirty="0"/>
          </a:p>
          <a:p>
            <a:pPr>
              <a:buNone/>
            </a:pPr>
            <a:r>
              <a:rPr lang="de-DE" sz="1400" b="1" dirty="0">
                <a:solidFill>
                  <a:schemeClr val="bg2">
                    <a:lumMod val="50000"/>
                  </a:schemeClr>
                </a:solidFill>
              </a:rPr>
              <a:t>Datenerhebung &amp; Datenqualität</a:t>
            </a:r>
            <a:endParaRPr lang="de-DE" sz="1400" dirty="0">
              <a:solidFill>
                <a:schemeClr val="bg2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solidFill>
                  <a:schemeClr val="bg2">
                    <a:lumMod val="50000"/>
                  </a:schemeClr>
                </a:solidFill>
              </a:rPr>
              <a:t>Daten sammeln: APIs, lokale Dateien, unstrukturierte Daten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solidFill>
                  <a:schemeClr val="bg2">
                    <a:lumMod val="50000"/>
                  </a:schemeClr>
                </a:solidFill>
              </a:rPr>
              <a:t>Vollständigkeit, Genauigkeit, Konsistenz prüfen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solidFill>
                  <a:schemeClr val="bg2">
                    <a:lumMod val="50000"/>
                  </a:schemeClr>
                </a:solidFill>
              </a:rPr>
              <a:t>Daten laden &amp; inspizieren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solidFill>
                  <a:schemeClr val="bg2">
                    <a:lumMod val="50000"/>
                  </a:schemeClr>
                </a:solidFill>
              </a:rPr>
              <a:t>Fehlende Werte, Duplikate, Format prüfen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1400" dirty="0">
              <a:solidFill>
                <a:schemeClr val="bg2">
                  <a:lumMod val="50000"/>
                </a:schemeClr>
              </a:solidFill>
            </a:endParaRPr>
          </a:p>
          <a:p>
            <a:pPr>
              <a:buNone/>
            </a:pPr>
            <a:r>
              <a:rPr lang="de-DE" sz="1400" b="1" dirty="0">
                <a:solidFill>
                  <a:schemeClr val="bg2">
                    <a:lumMod val="50000"/>
                  </a:schemeClr>
                </a:solidFill>
              </a:rPr>
              <a:t>Datenbereinigung &amp; -vorbereitung</a:t>
            </a:r>
            <a:endParaRPr lang="de-DE" sz="1400" dirty="0">
              <a:solidFill>
                <a:schemeClr val="bg2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solidFill>
                  <a:schemeClr val="bg2">
                    <a:lumMod val="50000"/>
                  </a:schemeClr>
                </a:solidFill>
              </a:rPr>
              <a:t>Fehlende/falsche Werte korrigieren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solidFill>
                  <a:schemeClr val="bg2">
                    <a:lumMod val="50000"/>
                  </a:schemeClr>
                </a:solidFill>
              </a:rPr>
              <a:t>Formate standardisieren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solidFill>
                  <a:schemeClr val="bg2">
                    <a:lumMod val="50000"/>
                  </a:schemeClr>
                </a:solidFill>
              </a:rPr>
              <a:t>Variablen für Analyse transformieren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C8B5D11-0392-D029-394E-0E2E29F38FDB}"/>
              </a:ext>
            </a:extLst>
          </p:cNvPr>
          <p:cNvSpPr txBox="1"/>
          <p:nvPr/>
        </p:nvSpPr>
        <p:spPr>
          <a:xfrm>
            <a:off x="5950910" y="1490503"/>
            <a:ext cx="6096680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1" dirty="0" err="1">
                <a:solidFill>
                  <a:schemeClr val="bg2">
                    <a:lumMod val="50000"/>
                  </a:schemeClr>
                </a:solidFill>
              </a:rPr>
              <a:t>Datenmodellierung</a:t>
            </a:r>
            <a:r>
              <a:rPr lang="en-US" sz="1400" b="1" dirty="0">
                <a:solidFill>
                  <a:schemeClr val="bg2">
                    <a:lumMod val="50000"/>
                  </a:schemeClr>
                </a:solidFill>
              </a:rPr>
              <a:t> &amp; Aggregation</a:t>
            </a:r>
            <a:endParaRPr lang="en-US" sz="1400" dirty="0">
              <a:solidFill>
                <a:schemeClr val="bg2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Daten in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</a:rPr>
              <a:t>Tabellen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 &amp;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</a:rPr>
              <a:t>Beziehungen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</a:rPr>
              <a:t>organisieren</a:t>
            </a:r>
            <a:endParaRPr lang="en-US" sz="1400" dirty="0">
              <a:solidFill>
                <a:schemeClr val="bg2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Feature Engineering &amp;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</a:rPr>
              <a:t>Aggregationen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400" b="1" dirty="0" err="1">
                <a:solidFill>
                  <a:schemeClr val="bg2">
                    <a:lumMod val="50000"/>
                  </a:schemeClr>
                </a:solidFill>
              </a:rPr>
              <a:t>Deskriptive</a:t>
            </a:r>
            <a:r>
              <a:rPr lang="en-US" sz="1400" b="1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1400" b="1" dirty="0" err="1">
                <a:solidFill>
                  <a:schemeClr val="bg2">
                    <a:lumMod val="50000"/>
                  </a:schemeClr>
                </a:solidFill>
              </a:rPr>
              <a:t>Statistik</a:t>
            </a:r>
            <a:r>
              <a:rPr lang="en-US" sz="1400" b="1" dirty="0">
                <a:solidFill>
                  <a:schemeClr val="bg2">
                    <a:lumMod val="50000"/>
                  </a:schemeClr>
                </a:solidFill>
              </a:rPr>
              <a:t> &amp; KPIs</a:t>
            </a:r>
            <a:endParaRPr lang="en-US" sz="1400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400" dirty="0" err="1">
                <a:solidFill>
                  <a:schemeClr val="bg2">
                    <a:lumMod val="50000"/>
                  </a:schemeClr>
                </a:solidFill>
              </a:rPr>
              <a:t>Mittelwert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, Median, Modus,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</a:rPr>
              <a:t>Standardabweichung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,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</a:rPr>
              <a:t>Spannweite</a:t>
            </a:r>
            <a:endParaRPr lang="en-US" sz="1400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400" dirty="0" err="1">
                <a:solidFill>
                  <a:schemeClr val="bg2">
                    <a:lumMod val="50000"/>
                  </a:schemeClr>
                </a:solidFill>
              </a:rPr>
              <a:t>Korrelationen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 &amp;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</a:rPr>
              <a:t>Kreuztabellen</a:t>
            </a:r>
            <a:endParaRPr lang="en-US" sz="1400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400" dirty="0">
              <a:solidFill>
                <a:schemeClr val="bg2">
                  <a:lumMod val="50000"/>
                </a:schemeClr>
              </a:solidFill>
            </a:endParaRPr>
          </a:p>
          <a:p>
            <a:pPr>
              <a:buNone/>
            </a:pPr>
            <a:r>
              <a:rPr lang="en-US" sz="1400" b="1" dirty="0" err="1">
                <a:solidFill>
                  <a:schemeClr val="bg2">
                    <a:lumMod val="50000"/>
                  </a:schemeClr>
                </a:solidFill>
              </a:rPr>
              <a:t>Datenvisualisierung</a:t>
            </a:r>
            <a:endParaRPr lang="en-US" sz="1400" dirty="0">
              <a:solidFill>
                <a:schemeClr val="bg2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chemeClr val="bg2">
                    <a:lumMod val="50000"/>
                  </a:schemeClr>
                </a:solidFill>
              </a:rPr>
              <a:t>Klassische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</a:rPr>
              <a:t>Diagramme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;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</a:rPr>
              <a:t>Balkendiagramm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,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</a:rPr>
              <a:t>Histogramm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, Boxplot,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</a:rPr>
              <a:t>Liniendiagramm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,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</a:rPr>
              <a:t>Streudiagramm</a:t>
            </a:r>
            <a:endParaRPr lang="en-US" sz="1400" dirty="0">
              <a:solidFill>
                <a:schemeClr val="bg2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chemeClr val="bg2">
                    <a:lumMod val="50000"/>
                  </a:schemeClr>
                </a:solidFill>
              </a:rPr>
              <a:t>Interaktive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 Charts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bg2">
                  <a:lumMod val="50000"/>
                </a:schemeClr>
              </a:solidFill>
            </a:endParaRPr>
          </a:p>
          <a:p>
            <a:pPr>
              <a:buNone/>
            </a:pPr>
            <a:r>
              <a:rPr lang="en-US" sz="1400" b="1" dirty="0">
                <a:solidFill>
                  <a:schemeClr val="bg2">
                    <a:lumMod val="50000"/>
                  </a:schemeClr>
                </a:solidFill>
              </a:rPr>
              <a:t>Analytics-Workflow &amp; Integration</a:t>
            </a:r>
            <a:endParaRPr lang="en-US" sz="1400" dirty="0">
              <a:solidFill>
                <a:schemeClr val="bg2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Strukturierter Workflow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Mini-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</a:rPr>
              <a:t>Fallbeispiele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</a:rPr>
              <a:t>mit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</a:rPr>
              <a:t>allen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</a:rPr>
              <a:t>vorherigen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</a:rPr>
              <a:t>Schritten</a:t>
            </a:r>
            <a:endParaRPr lang="en-US" sz="1400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1400" dirty="0">
              <a:solidFill>
                <a:schemeClr val="bg2">
                  <a:lumMod val="50000"/>
                </a:schemeClr>
              </a:solidFill>
            </a:endParaRPr>
          </a:p>
          <a:p>
            <a:pPr>
              <a:buNone/>
            </a:pPr>
            <a:r>
              <a:rPr lang="en-US" sz="1400" b="1" dirty="0">
                <a:solidFill>
                  <a:schemeClr val="bg2">
                    <a:lumMod val="50000"/>
                  </a:schemeClr>
                </a:solidFill>
              </a:rPr>
              <a:t>Capstone End-to-End Projekt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solidFill>
                  <a:schemeClr val="bg2">
                    <a:lumMod val="50000"/>
                  </a:schemeClr>
                </a:solidFill>
              </a:rPr>
              <a:t>Vollständige Analyse von der Fragestellung bis zur Präsentation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solidFill>
                  <a:schemeClr val="bg2">
                    <a:lumMod val="50000"/>
                  </a:schemeClr>
                </a:solidFill>
              </a:rPr>
              <a:t>Alle erlernten Schritte anwenden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solidFill>
                  <a:schemeClr val="bg2">
                    <a:lumMod val="50000"/>
                  </a:schemeClr>
                </a:solidFill>
              </a:rPr>
              <a:t>Ergebnisse präsentieren &amp; diskutieren</a:t>
            </a:r>
            <a:endParaRPr lang="en-US" sz="14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F11F9C1-4711-A265-C578-3AF4BAD66930}"/>
              </a:ext>
            </a:extLst>
          </p:cNvPr>
          <p:cNvSpPr txBox="1"/>
          <p:nvPr/>
        </p:nvSpPr>
        <p:spPr>
          <a:xfrm>
            <a:off x="2493169" y="272534"/>
            <a:ext cx="692046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 err="1"/>
              <a:t>Methodische</a:t>
            </a:r>
            <a:r>
              <a:rPr lang="en-US" sz="2800" b="1" dirty="0"/>
              <a:t> </a:t>
            </a:r>
            <a:r>
              <a:rPr lang="en-US" sz="2800" b="1" dirty="0" err="1"/>
              <a:t>Grundlagen</a:t>
            </a:r>
            <a:r>
              <a:rPr lang="en-US" sz="2800" b="1" dirty="0"/>
              <a:t> der </a:t>
            </a:r>
            <a:r>
              <a:rPr lang="en-US" sz="2800" b="1" dirty="0" err="1"/>
              <a:t>Datenanalyse</a:t>
            </a:r>
            <a:endParaRPr lang="LID4096" sz="2800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F27597A-65BE-0742-AA12-965AEC469016}"/>
              </a:ext>
            </a:extLst>
          </p:cNvPr>
          <p:cNvSpPr/>
          <p:nvPr/>
        </p:nvSpPr>
        <p:spPr>
          <a:xfrm>
            <a:off x="358375" y="2451100"/>
            <a:ext cx="4823225" cy="977900"/>
          </a:xfrm>
          <a:prstGeom prst="roundRect">
            <a:avLst/>
          </a:prstGeom>
          <a:noFill/>
          <a:ln w="31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37525295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6ECC72-8B28-3CB6-EC81-ABF8B87A26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E083F8FC-B480-AF3F-CB51-6D5B8D465A26}"/>
              </a:ext>
            </a:extLst>
          </p:cNvPr>
          <p:cNvSpPr txBox="1"/>
          <p:nvPr/>
        </p:nvSpPr>
        <p:spPr>
          <a:xfrm>
            <a:off x="358375" y="1490503"/>
            <a:ext cx="6096680" cy="4339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de-DE" sz="1400" b="1" dirty="0">
                <a:solidFill>
                  <a:schemeClr val="accent6">
                    <a:lumMod val="75000"/>
                  </a:schemeClr>
                </a:solidFill>
              </a:rPr>
              <a:t>Setup, Daten &amp; Datentypen</a:t>
            </a:r>
            <a:endParaRPr lang="de-DE" sz="1400" dirty="0">
              <a:solidFill>
                <a:schemeClr val="accent6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solidFill>
                  <a:schemeClr val="accent6">
                    <a:lumMod val="75000"/>
                  </a:schemeClr>
                </a:solidFill>
              </a:rPr>
              <a:t>Python, </a:t>
            </a:r>
            <a:r>
              <a:rPr lang="de-DE" sz="1400" dirty="0" err="1">
                <a:solidFill>
                  <a:schemeClr val="accent6">
                    <a:lumMod val="75000"/>
                  </a:schemeClr>
                </a:solidFill>
              </a:rPr>
              <a:t>Jupyter</a:t>
            </a:r>
            <a:r>
              <a:rPr lang="de-DE" sz="1400" dirty="0">
                <a:solidFill>
                  <a:schemeClr val="accent6">
                    <a:lumMod val="75000"/>
                  </a:schemeClr>
                </a:solidFill>
              </a:rPr>
              <a:t> Notebook, Bibliotheken installieren, </a:t>
            </a:r>
            <a:r>
              <a:rPr lang="de-DE" sz="1400" dirty="0" err="1">
                <a:solidFill>
                  <a:schemeClr val="accent6">
                    <a:lumMod val="75000"/>
                  </a:schemeClr>
                </a:solidFill>
              </a:rPr>
              <a:t>VSCode</a:t>
            </a:r>
            <a:endParaRPr lang="de-DE" sz="1400" dirty="0">
              <a:solidFill>
                <a:schemeClr val="accent6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chemeClr val="accent6">
                    <a:lumMod val="75000"/>
                  </a:schemeClr>
                </a:solidFill>
              </a:rPr>
              <a:t>Arbeiten</a:t>
            </a:r>
            <a:r>
              <a:rPr lang="en-US" sz="1400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accent6">
                    <a:lumMod val="75000"/>
                  </a:schemeClr>
                </a:solidFill>
              </a:rPr>
              <a:t>mit</a:t>
            </a:r>
            <a:r>
              <a:rPr lang="en-US" sz="1400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accent6">
                    <a:lumMod val="75000"/>
                  </a:schemeClr>
                </a:solidFill>
              </a:rPr>
              <a:t>Jupyter</a:t>
            </a:r>
            <a:r>
              <a:rPr lang="en-US" sz="1400" dirty="0">
                <a:solidFill>
                  <a:schemeClr val="accent6">
                    <a:lumMod val="75000"/>
                  </a:schemeClr>
                </a:solidFill>
              </a:rPr>
              <a:t> | </a:t>
            </a:r>
            <a:r>
              <a:rPr lang="de-DE" sz="1400" dirty="0">
                <a:solidFill>
                  <a:schemeClr val="accent6">
                    <a:lumMod val="75000"/>
                  </a:schemeClr>
                </a:solidFill>
              </a:rPr>
              <a:t>Überblick über Datentypen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solidFill>
                  <a:schemeClr val="accent6">
                    <a:lumMod val="75000"/>
                  </a:schemeClr>
                </a:solidFill>
              </a:rPr>
              <a:t>Data | Information | Dataset</a:t>
            </a:r>
          </a:p>
          <a:p>
            <a:pPr>
              <a:buFont typeface="Arial" panose="020B0604020202020204" pitchFamily="34" charset="0"/>
              <a:buChar char="•"/>
            </a:pPr>
            <a:endParaRPr lang="de-DE" sz="1400" dirty="0">
              <a:solidFill>
                <a:schemeClr val="accent6">
                  <a:lumMod val="75000"/>
                </a:schemeClr>
              </a:solidFill>
            </a:endParaRPr>
          </a:p>
          <a:p>
            <a:pPr>
              <a:buNone/>
            </a:pPr>
            <a:r>
              <a:rPr lang="de-DE" sz="1400" b="1" dirty="0">
                <a:solidFill>
                  <a:schemeClr val="accent6">
                    <a:lumMod val="75000"/>
                  </a:schemeClr>
                </a:solidFill>
              </a:rPr>
              <a:t>Analyseziele &amp; KPIs definieren</a:t>
            </a:r>
            <a:endParaRPr lang="de-DE" sz="1400" dirty="0">
              <a:solidFill>
                <a:schemeClr val="accent6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solidFill>
                  <a:schemeClr val="accent6">
                    <a:lumMod val="75000"/>
                  </a:schemeClr>
                </a:solidFill>
              </a:rPr>
              <a:t>Analysefragen &amp; Ziele identifizieren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solidFill>
                  <a:schemeClr val="accent6">
                    <a:lumMod val="75000"/>
                  </a:schemeClr>
                </a:solidFill>
              </a:rPr>
              <a:t>KPIs mit Geschäftsentscheidungen verknüpfen</a:t>
            </a:r>
          </a:p>
          <a:p>
            <a:pPr>
              <a:buFont typeface="Arial" panose="020B0604020202020204" pitchFamily="34" charset="0"/>
              <a:buChar char="•"/>
            </a:pPr>
            <a:endParaRPr lang="de-DE" sz="1400" dirty="0"/>
          </a:p>
          <a:p>
            <a:pPr>
              <a:buNone/>
            </a:pPr>
            <a:r>
              <a:rPr lang="de-DE" sz="1600" b="1" dirty="0">
                <a:solidFill>
                  <a:srgbClr val="FF9933"/>
                </a:solidFill>
              </a:rPr>
              <a:t>Datenerhebung &amp; Datenqualität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b="1" dirty="0"/>
              <a:t>Daten sammeln: APIs, lokale Dateien, unstrukturierte Daten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b="1" dirty="0"/>
              <a:t>Vollständigkeit, Genauigkeit, Konsistenz prüfen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b="1" dirty="0"/>
              <a:t>Daten laden &amp; inspizieren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b="1" dirty="0"/>
              <a:t>Fehlende Werte, Duplikate, Format prüfen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1400" dirty="0"/>
          </a:p>
          <a:p>
            <a:pPr>
              <a:buNone/>
            </a:pPr>
            <a:r>
              <a:rPr lang="de-DE" sz="1400" b="1" dirty="0">
                <a:solidFill>
                  <a:schemeClr val="accent5">
                    <a:lumMod val="75000"/>
                  </a:schemeClr>
                </a:solidFill>
              </a:rPr>
              <a:t>Datenbereinigung &amp; -vorbereitung</a:t>
            </a:r>
            <a:endParaRPr lang="de-DE" sz="1400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Fehlende/falsche Werte korrigieren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Formate standardisieren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Variablen für Analyse transformieren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6F1BE8F-5A43-A69A-0931-18E6C45C3281}"/>
              </a:ext>
            </a:extLst>
          </p:cNvPr>
          <p:cNvSpPr txBox="1"/>
          <p:nvPr/>
        </p:nvSpPr>
        <p:spPr>
          <a:xfrm>
            <a:off x="5950910" y="1490503"/>
            <a:ext cx="6096680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1" dirty="0" err="1">
                <a:solidFill>
                  <a:schemeClr val="accent5">
                    <a:lumMod val="75000"/>
                  </a:schemeClr>
                </a:solidFill>
              </a:rPr>
              <a:t>Datenmodellierung</a:t>
            </a:r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 &amp; Aggregation</a:t>
            </a:r>
            <a:endParaRPr lang="en-US" sz="1400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Daten in </a:t>
            </a:r>
            <a:r>
              <a:rPr lang="en-US" sz="1400" dirty="0" err="1"/>
              <a:t>Tabellen</a:t>
            </a:r>
            <a:r>
              <a:rPr lang="en-US" sz="1400" dirty="0"/>
              <a:t> &amp; </a:t>
            </a:r>
            <a:r>
              <a:rPr lang="en-US" sz="1400" dirty="0" err="1"/>
              <a:t>Beziehungen</a:t>
            </a:r>
            <a:r>
              <a:rPr lang="en-US" sz="1400" dirty="0"/>
              <a:t> </a:t>
            </a:r>
            <a:r>
              <a:rPr lang="en-US" sz="1400" dirty="0" err="1"/>
              <a:t>organisieren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Feature Engineering &amp; </a:t>
            </a:r>
            <a:r>
              <a:rPr lang="en-US" sz="1400" dirty="0" err="1"/>
              <a:t>Aggregationen</a:t>
            </a:r>
            <a:r>
              <a:rPr lang="en-US" sz="14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400" dirty="0"/>
          </a:p>
          <a:p>
            <a:r>
              <a:rPr lang="en-US" sz="1400" b="1" dirty="0" err="1">
                <a:solidFill>
                  <a:schemeClr val="accent5">
                    <a:lumMod val="75000"/>
                  </a:schemeClr>
                </a:solidFill>
              </a:rPr>
              <a:t>Deskriptive</a:t>
            </a:r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1400" b="1" dirty="0" err="1">
                <a:solidFill>
                  <a:schemeClr val="accent5">
                    <a:lumMod val="75000"/>
                  </a:schemeClr>
                </a:solidFill>
              </a:rPr>
              <a:t>Statistik</a:t>
            </a:r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 &amp; KPIs</a:t>
            </a:r>
            <a:endParaRPr lang="en-US" sz="1400" dirty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en-US" sz="1400" dirty="0" err="1"/>
              <a:t>Mittelwert</a:t>
            </a:r>
            <a:r>
              <a:rPr lang="en-US" sz="1400" dirty="0"/>
              <a:t>, Median, Modus, </a:t>
            </a:r>
            <a:r>
              <a:rPr lang="en-US" sz="1400" dirty="0" err="1"/>
              <a:t>Standardabweichung</a:t>
            </a:r>
            <a:r>
              <a:rPr lang="en-US" sz="1400" dirty="0"/>
              <a:t>, </a:t>
            </a:r>
            <a:r>
              <a:rPr lang="en-US" sz="1400" dirty="0" err="1"/>
              <a:t>Spannweite</a:t>
            </a:r>
            <a:endParaRPr lang="en-US" sz="1400" dirty="0"/>
          </a:p>
          <a:p>
            <a:r>
              <a:rPr lang="en-US" sz="1400" dirty="0" err="1"/>
              <a:t>Korrelationen</a:t>
            </a:r>
            <a:r>
              <a:rPr lang="en-US" sz="1400" dirty="0"/>
              <a:t> &amp; </a:t>
            </a:r>
            <a:r>
              <a:rPr lang="en-US" sz="1400" dirty="0" err="1"/>
              <a:t>Kreuztabellen</a:t>
            </a:r>
            <a:endParaRPr lang="en-US" sz="1400" dirty="0"/>
          </a:p>
          <a:p>
            <a:endParaRPr lang="en-US" sz="1400" dirty="0"/>
          </a:p>
          <a:p>
            <a:pPr>
              <a:buNone/>
            </a:pPr>
            <a:r>
              <a:rPr lang="en-US" sz="1400" b="1" dirty="0" err="1">
                <a:solidFill>
                  <a:schemeClr val="accent5">
                    <a:lumMod val="75000"/>
                  </a:schemeClr>
                </a:solidFill>
              </a:rPr>
              <a:t>Datenvisualisierung</a:t>
            </a:r>
            <a:endParaRPr lang="en-US" sz="1400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Klassische</a:t>
            </a:r>
            <a:r>
              <a:rPr lang="en-US" sz="1400" dirty="0"/>
              <a:t> </a:t>
            </a:r>
            <a:r>
              <a:rPr lang="en-US" sz="1400" dirty="0" err="1"/>
              <a:t>Diagramme</a:t>
            </a:r>
            <a:r>
              <a:rPr lang="en-US" sz="1400" dirty="0"/>
              <a:t>; </a:t>
            </a:r>
            <a:r>
              <a:rPr lang="en-US" sz="1400" dirty="0" err="1"/>
              <a:t>Balkendiagramm</a:t>
            </a:r>
            <a:r>
              <a:rPr lang="en-US" sz="1400" dirty="0"/>
              <a:t>, </a:t>
            </a:r>
            <a:r>
              <a:rPr lang="en-US" sz="1400" dirty="0" err="1"/>
              <a:t>Histogramm</a:t>
            </a:r>
            <a:r>
              <a:rPr lang="en-US" sz="1400" dirty="0"/>
              <a:t>, Boxplot, </a:t>
            </a:r>
            <a:r>
              <a:rPr lang="en-US" sz="1400" dirty="0" err="1"/>
              <a:t>Liniendiagramm</a:t>
            </a:r>
            <a:r>
              <a:rPr lang="en-US" sz="1400" dirty="0"/>
              <a:t>, </a:t>
            </a:r>
            <a:r>
              <a:rPr lang="en-US" sz="1400" dirty="0" err="1"/>
              <a:t>Streudiagramm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Interaktive</a:t>
            </a:r>
            <a:r>
              <a:rPr lang="en-US" sz="1400" dirty="0"/>
              <a:t> Charts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400" dirty="0"/>
          </a:p>
          <a:p>
            <a:pPr>
              <a:buNone/>
            </a:pPr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Analytics-Workflow &amp; Integration</a:t>
            </a:r>
            <a:endParaRPr lang="en-US" sz="1400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Strukturierter Workflow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Mini-</a:t>
            </a:r>
            <a:r>
              <a:rPr lang="en-US" sz="1400" dirty="0" err="1"/>
              <a:t>Fallbeispiele</a:t>
            </a:r>
            <a:r>
              <a:rPr lang="en-US" sz="1400" dirty="0"/>
              <a:t> </a:t>
            </a:r>
            <a:r>
              <a:rPr lang="en-US" sz="1400" dirty="0" err="1"/>
              <a:t>mit</a:t>
            </a:r>
            <a:r>
              <a:rPr lang="en-US" sz="1400" dirty="0"/>
              <a:t> </a:t>
            </a:r>
            <a:r>
              <a:rPr lang="en-US" sz="1400" dirty="0" err="1"/>
              <a:t>allen</a:t>
            </a:r>
            <a:r>
              <a:rPr lang="en-US" sz="1400" dirty="0"/>
              <a:t> </a:t>
            </a:r>
            <a:r>
              <a:rPr lang="en-US" sz="1400" dirty="0" err="1"/>
              <a:t>vorherigen</a:t>
            </a:r>
            <a:r>
              <a:rPr lang="en-US" sz="1400" dirty="0"/>
              <a:t> </a:t>
            </a:r>
            <a:r>
              <a:rPr lang="en-US" sz="1400" dirty="0" err="1"/>
              <a:t>Schritten</a:t>
            </a:r>
            <a:endParaRPr lang="en-US" sz="1400" dirty="0"/>
          </a:p>
          <a:p>
            <a:endParaRPr lang="en-US" sz="1400" dirty="0"/>
          </a:p>
          <a:p>
            <a:pPr>
              <a:buNone/>
            </a:pPr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Capstone End-to-End Projekt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Vollständige Analyse von der Fragestellung bis zur Präsentation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Alle erlernten Schritte anwenden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Ergebnisse präsentieren &amp; diskutieren</a:t>
            </a:r>
            <a:endParaRPr lang="en-US" sz="14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2DDEE66-84C2-089A-11D6-AC6E73C1BCF3}"/>
              </a:ext>
            </a:extLst>
          </p:cNvPr>
          <p:cNvSpPr txBox="1"/>
          <p:nvPr/>
        </p:nvSpPr>
        <p:spPr>
          <a:xfrm>
            <a:off x="2493169" y="272534"/>
            <a:ext cx="692046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 err="1"/>
              <a:t>Methodische</a:t>
            </a:r>
            <a:r>
              <a:rPr lang="en-US" sz="2800" b="1" dirty="0"/>
              <a:t> </a:t>
            </a:r>
            <a:r>
              <a:rPr lang="en-US" sz="2800" b="1" dirty="0" err="1"/>
              <a:t>Grundlagen</a:t>
            </a:r>
            <a:r>
              <a:rPr lang="en-US" sz="2800" b="1" dirty="0"/>
              <a:t> der </a:t>
            </a:r>
            <a:r>
              <a:rPr lang="en-US" sz="2800" b="1" dirty="0" err="1"/>
              <a:t>Datenanalyse</a:t>
            </a:r>
            <a:endParaRPr lang="LID4096" sz="2800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B0CC33B-3194-5EB6-66DC-C1C42FDAC122}"/>
              </a:ext>
            </a:extLst>
          </p:cNvPr>
          <p:cNvSpPr/>
          <p:nvPr/>
        </p:nvSpPr>
        <p:spPr>
          <a:xfrm>
            <a:off x="358375" y="3346450"/>
            <a:ext cx="5432825" cy="1473200"/>
          </a:xfrm>
          <a:prstGeom prst="roundRect">
            <a:avLst/>
          </a:prstGeom>
          <a:noFill/>
          <a:ln w="31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36344982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07EE86-F031-25B3-22A0-439F0F9340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1BE57920-A6C3-0189-D9F0-96EF696834B6}"/>
              </a:ext>
            </a:extLst>
          </p:cNvPr>
          <p:cNvSpPr txBox="1"/>
          <p:nvPr/>
        </p:nvSpPr>
        <p:spPr>
          <a:xfrm>
            <a:off x="358375" y="1490503"/>
            <a:ext cx="6096680" cy="430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de-DE" sz="1400" b="1" dirty="0">
                <a:solidFill>
                  <a:schemeClr val="accent6">
                    <a:lumMod val="75000"/>
                  </a:schemeClr>
                </a:solidFill>
              </a:rPr>
              <a:t>Setup, Daten &amp; Datentypen</a:t>
            </a:r>
            <a:endParaRPr lang="de-DE" sz="1400" dirty="0">
              <a:solidFill>
                <a:schemeClr val="accent6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solidFill>
                  <a:schemeClr val="accent6">
                    <a:lumMod val="75000"/>
                  </a:schemeClr>
                </a:solidFill>
              </a:rPr>
              <a:t>Python, </a:t>
            </a:r>
            <a:r>
              <a:rPr lang="de-DE" sz="1400" dirty="0" err="1">
                <a:solidFill>
                  <a:schemeClr val="accent6">
                    <a:lumMod val="75000"/>
                  </a:schemeClr>
                </a:solidFill>
              </a:rPr>
              <a:t>Jupyter</a:t>
            </a:r>
            <a:r>
              <a:rPr lang="de-DE" sz="1400" dirty="0">
                <a:solidFill>
                  <a:schemeClr val="accent6">
                    <a:lumMod val="75000"/>
                  </a:schemeClr>
                </a:solidFill>
              </a:rPr>
              <a:t> Notebook, Bibliotheken installieren, </a:t>
            </a:r>
            <a:r>
              <a:rPr lang="de-DE" sz="1400" dirty="0" err="1">
                <a:solidFill>
                  <a:schemeClr val="accent6">
                    <a:lumMod val="75000"/>
                  </a:schemeClr>
                </a:solidFill>
              </a:rPr>
              <a:t>VSCode</a:t>
            </a:r>
            <a:endParaRPr lang="de-DE" sz="1400" dirty="0">
              <a:solidFill>
                <a:schemeClr val="accent6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chemeClr val="accent6">
                    <a:lumMod val="75000"/>
                  </a:schemeClr>
                </a:solidFill>
              </a:rPr>
              <a:t>Arbeiten</a:t>
            </a:r>
            <a:r>
              <a:rPr lang="en-US" sz="1400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accent6">
                    <a:lumMod val="75000"/>
                  </a:schemeClr>
                </a:solidFill>
              </a:rPr>
              <a:t>mit</a:t>
            </a:r>
            <a:r>
              <a:rPr lang="en-US" sz="1400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accent6">
                    <a:lumMod val="75000"/>
                  </a:schemeClr>
                </a:solidFill>
              </a:rPr>
              <a:t>Jupyter</a:t>
            </a:r>
            <a:r>
              <a:rPr lang="en-US" sz="1400" dirty="0">
                <a:solidFill>
                  <a:schemeClr val="accent6">
                    <a:lumMod val="75000"/>
                  </a:schemeClr>
                </a:solidFill>
              </a:rPr>
              <a:t> | </a:t>
            </a:r>
            <a:r>
              <a:rPr lang="de-DE" sz="1400" dirty="0">
                <a:solidFill>
                  <a:schemeClr val="accent6">
                    <a:lumMod val="75000"/>
                  </a:schemeClr>
                </a:solidFill>
              </a:rPr>
              <a:t>Überblick über Datentypen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solidFill>
                  <a:schemeClr val="accent6">
                    <a:lumMod val="75000"/>
                  </a:schemeClr>
                </a:solidFill>
              </a:rPr>
              <a:t>Data | Information | Dataset</a:t>
            </a:r>
          </a:p>
          <a:p>
            <a:pPr>
              <a:buFont typeface="Arial" panose="020B0604020202020204" pitchFamily="34" charset="0"/>
              <a:buChar char="•"/>
            </a:pPr>
            <a:endParaRPr lang="de-DE" sz="1400" dirty="0">
              <a:solidFill>
                <a:schemeClr val="accent6">
                  <a:lumMod val="75000"/>
                </a:schemeClr>
              </a:solidFill>
            </a:endParaRPr>
          </a:p>
          <a:p>
            <a:pPr>
              <a:buNone/>
            </a:pPr>
            <a:r>
              <a:rPr lang="de-DE" sz="1400" b="1" dirty="0">
                <a:solidFill>
                  <a:schemeClr val="accent6">
                    <a:lumMod val="75000"/>
                  </a:schemeClr>
                </a:solidFill>
              </a:rPr>
              <a:t>Analyseziele &amp; KPIs definieren</a:t>
            </a:r>
            <a:endParaRPr lang="de-DE" sz="1400" dirty="0">
              <a:solidFill>
                <a:schemeClr val="accent6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solidFill>
                  <a:schemeClr val="accent6">
                    <a:lumMod val="75000"/>
                  </a:schemeClr>
                </a:solidFill>
              </a:rPr>
              <a:t>Analysefragen &amp; Ziele identifizieren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solidFill>
                  <a:schemeClr val="accent6">
                    <a:lumMod val="75000"/>
                  </a:schemeClr>
                </a:solidFill>
              </a:rPr>
              <a:t>KPIs mit Geschäftsentscheidungen verknüpfen</a:t>
            </a:r>
          </a:p>
          <a:p>
            <a:pPr>
              <a:buFont typeface="Arial" panose="020B0604020202020204" pitchFamily="34" charset="0"/>
              <a:buChar char="•"/>
            </a:pPr>
            <a:endParaRPr lang="de-DE" sz="1400" dirty="0">
              <a:solidFill>
                <a:schemeClr val="accent6">
                  <a:lumMod val="75000"/>
                </a:schemeClr>
              </a:solidFill>
            </a:endParaRPr>
          </a:p>
          <a:p>
            <a:pPr>
              <a:buNone/>
            </a:pPr>
            <a:r>
              <a:rPr lang="de-DE" sz="1400" b="1" dirty="0">
                <a:solidFill>
                  <a:schemeClr val="accent6">
                    <a:lumMod val="75000"/>
                  </a:schemeClr>
                </a:solidFill>
              </a:rPr>
              <a:t>Datenerhebung &amp; Datenqualität</a:t>
            </a:r>
            <a:endParaRPr lang="de-DE" sz="1400" dirty="0">
              <a:solidFill>
                <a:schemeClr val="accent6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solidFill>
                  <a:schemeClr val="accent6">
                    <a:lumMod val="75000"/>
                  </a:schemeClr>
                </a:solidFill>
              </a:rPr>
              <a:t>Daten sammeln: APIs, lokale Dateien, unstrukturierte Daten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solidFill>
                  <a:schemeClr val="accent6">
                    <a:lumMod val="75000"/>
                  </a:schemeClr>
                </a:solidFill>
              </a:rPr>
              <a:t>Vollständigkeit, Genauigkeit, Konsistenz prüfen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solidFill>
                  <a:schemeClr val="accent6">
                    <a:lumMod val="75000"/>
                  </a:schemeClr>
                </a:solidFill>
              </a:rPr>
              <a:t>Daten laden &amp; inspizieren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solidFill>
                  <a:schemeClr val="accent6">
                    <a:lumMod val="75000"/>
                  </a:schemeClr>
                </a:solidFill>
              </a:rPr>
              <a:t>Fehlende Werte, Duplikate, Format prüfen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1400" b="1" dirty="0"/>
          </a:p>
          <a:p>
            <a:pPr>
              <a:buNone/>
            </a:pPr>
            <a:r>
              <a:rPr lang="de-DE" sz="1600" b="1" dirty="0">
                <a:solidFill>
                  <a:srgbClr val="FF9933"/>
                </a:solidFill>
              </a:rPr>
              <a:t>Datenbereinigung &amp; -vorbereitung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b="1" dirty="0"/>
              <a:t>Fehlende/falsche Werte korrigieren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b="1" dirty="0"/>
              <a:t>Formate standardisieren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b="1" dirty="0"/>
              <a:t>Variablen für Analyse transformieren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A226EA3-9004-E1D2-CC1E-91A051F7EF16}"/>
              </a:ext>
            </a:extLst>
          </p:cNvPr>
          <p:cNvSpPr txBox="1"/>
          <p:nvPr/>
        </p:nvSpPr>
        <p:spPr>
          <a:xfrm>
            <a:off x="5950910" y="1490503"/>
            <a:ext cx="6096680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1" dirty="0" err="1">
                <a:solidFill>
                  <a:schemeClr val="accent5">
                    <a:lumMod val="75000"/>
                  </a:schemeClr>
                </a:solidFill>
              </a:rPr>
              <a:t>Datenmodellierung</a:t>
            </a:r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 &amp; Aggregation</a:t>
            </a:r>
            <a:endParaRPr lang="en-US" sz="1400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Daten in </a:t>
            </a:r>
            <a:r>
              <a:rPr lang="en-US" sz="1400" dirty="0" err="1"/>
              <a:t>Tabellen</a:t>
            </a:r>
            <a:r>
              <a:rPr lang="en-US" sz="1400" dirty="0"/>
              <a:t> &amp; </a:t>
            </a:r>
            <a:r>
              <a:rPr lang="en-US" sz="1400" dirty="0" err="1"/>
              <a:t>Beziehungen</a:t>
            </a:r>
            <a:r>
              <a:rPr lang="en-US" sz="1400" dirty="0"/>
              <a:t> </a:t>
            </a:r>
            <a:r>
              <a:rPr lang="en-US" sz="1400" dirty="0" err="1"/>
              <a:t>organisieren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Feature Engineering &amp; </a:t>
            </a:r>
            <a:r>
              <a:rPr lang="en-US" sz="1400" dirty="0" err="1"/>
              <a:t>Aggregationen</a:t>
            </a:r>
            <a:r>
              <a:rPr lang="en-US" sz="14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400" dirty="0"/>
          </a:p>
          <a:p>
            <a:r>
              <a:rPr lang="en-US" sz="1400" b="1" dirty="0" err="1">
                <a:solidFill>
                  <a:schemeClr val="accent5">
                    <a:lumMod val="75000"/>
                  </a:schemeClr>
                </a:solidFill>
              </a:rPr>
              <a:t>Deskriptive</a:t>
            </a:r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1400" b="1" dirty="0" err="1">
                <a:solidFill>
                  <a:schemeClr val="accent5">
                    <a:lumMod val="75000"/>
                  </a:schemeClr>
                </a:solidFill>
              </a:rPr>
              <a:t>Statistik</a:t>
            </a:r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 &amp; KPIs</a:t>
            </a:r>
            <a:endParaRPr lang="en-US" sz="1400" dirty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en-US" sz="1400" dirty="0" err="1"/>
              <a:t>Mittelwert</a:t>
            </a:r>
            <a:r>
              <a:rPr lang="en-US" sz="1400" dirty="0"/>
              <a:t>, Median, Modus, </a:t>
            </a:r>
            <a:r>
              <a:rPr lang="en-US" sz="1400" dirty="0" err="1"/>
              <a:t>Standardabweichung</a:t>
            </a:r>
            <a:r>
              <a:rPr lang="en-US" sz="1400" dirty="0"/>
              <a:t>, </a:t>
            </a:r>
            <a:r>
              <a:rPr lang="en-US" sz="1400" dirty="0" err="1"/>
              <a:t>Spannweite</a:t>
            </a:r>
            <a:endParaRPr lang="en-US" sz="1400" dirty="0"/>
          </a:p>
          <a:p>
            <a:r>
              <a:rPr lang="en-US" sz="1400" dirty="0" err="1"/>
              <a:t>Korrelationen</a:t>
            </a:r>
            <a:r>
              <a:rPr lang="en-US" sz="1400" dirty="0"/>
              <a:t> &amp; </a:t>
            </a:r>
            <a:r>
              <a:rPr lang="en-US" sz="1400" dirty="0" err="1"/>
              <a:t>Kreuztabellen</a:t>
            </a:r>
            <a:endParaRPr lang="en-US" sz="1400" dirty="0"/>
          </a:p>
          <a:p>
            <a:endParaRPr lang="en-US" sz="1400" dirty="0"/>
          </a:p>
          <a:p>
            <a:pPr>
              <a:buNone/>
            </a:pPr>
            <a:r>
              <a:rPr lang="en-US" sz="1400" b="1" dirty="0" err="1">
                <a:solidFill>
                  <a:schemeClr val="accent5">
                    <a:lumMod val="75000"/>
                  </a:schemeClr>
                </a:solidFill>
              </a:rPr>
              <a:t>Datenvisualisierung</a:t>
            </a:r>
            <a:endParaRPr lang="en-US" sz="1400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Klassische</a:t>
            </a:r>
            <a:r>
              <a:rPr lang="en-US" sz="1400" dirty="0"/>
              <a:t> </a:t>
            </a:r>
            <a:r>
              <a:rPr lang="en-US" sz="1400" dirty="0" err="1"/>
              <a:t>Diagramme</a:t>
            </a:r>
            <a:r>
              <a:rPr lang="en-US" sz="1400" dirty="0"/>
              <a:t>; </a:t>
            </a:r>
            <a:r>
              <a:rPr lang="en-US" sz="1400" dirty="0" err="1"/>
              <a:t>Balkendiagramm</a:t>
            </a:r>
            <a:r>
              <a:rPr lang="en-US" sz="1400" dirty="0"/>
              <a:t>, </a:t>
            </a:r>
            <a:r>
              <a:rPr lang="en-US" sz="1400" dirty="0" err="1"/>
              <a:t>Histogramm</a:t>
            </a:r>
            <a:r>
              <a:rPr lang="en-US" sz="1400" dirty="0"/>
              <a:t>, Boxplot, </a:t>
            </a:r>
            <a:r>
              <a:rPr lang="en-US" sz="1400" dirty="0" err="1"/>
              <a:t>Liniendiagramm</a:t>
            </a:r>
            <a:r>
              <a:rPr lang="en-US" sz="1400" dirty="0"/>
              <a:t>, </a:t>
            </a:r>
            <a:r>
              <a:rPr lang="en-US" sz="1400" dirty="0" err="1"/>
              <a:t>Streudiagramm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Interaktive</a:t>
            </a:r>
            <a:r>
              <a:rPr lang="en-US" sz="1400" dirty="0"/>
              <a:t> Charts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400" dirty="0"/>
          </a:p>
          <a:p>
            <a:pPr>
              <a:buNone/>
            </a:pPr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Analytics-Workflow &amp; Integration</a:t>
            </a:r>
            <a:endParaRPr lang="en-US" sz="1400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Strukturierter Workflow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Mini-</a:t>
            </a:r>
            <a:r>
              <a:rPr lang="en-US" sz="1400" dirty="0" err="1"/>
              <a:t>Fallbeispiele</a:t>
            </a:r>
            <a:r>
              <a:rPr lang="en-US" sz="1400" dirty="0"/>
              <a:t> </a:t>
            </a:r>
            <a:r>
              <a:rPr lang="en-US" sz="1400" dirty="0" err="1"/>
              <a:t>mit</a:t>
            </a:r>
            <a:r>
              <a:rPr lang="en-US" sz="1400" dirty="0"/>
              <a:t> </a:t>
            </a:r>
            <a:r>
              <a:rPr lang="en-US" sz="1400" dirty="0" err="1"/>
              <a:t>allen</a:t>
            </a:r>
            <a:r>
              <a:rPr lang="en-US" sz="1400" dirty="0"/>
              <a:t> </a:t>
            </a:r>
            <a:r>
              <a:rPr lang="en-US" sz="1400" dirty="0" err="1"/>
              <a:t>vorherigen</a:t>
            </a:r>
            <a:r>
              <a:rPr lang="en-US" sz="1400" dirty="0"/>
              <a:t> </a:t>
            </a:r>
            <a:r>
              <a:rPr lang="en-US" sz="1400" dirty="0" err="1"/>
              <a:t>Schritten</a:t>
            </a:r>
            <a:endParaRPr lang="en-US" sz="1400" dirty="0"/>
          </a:p>
          <a:p>
            <a:endParaRPr lang="en-US" sz="1400" dirty="0"/>
          </a:p>
          <a:p>
            <a:pPr>
              <a:buNone/>
            </a:pPr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Capstone End-to-End Projekt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Vollständige Analyse von der Fragestellung bis zur Präsentation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Alle erlernten Schritte anwenden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Ergebnisse präsentieren &amp; diskutieren</a:t>
            </a:r>
            <a:endParaRPr lang="en-US" sz="14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3AA3F0C-9EC1-E50C-D8BB-FCB2AB2D410D}"/>
              </a:ext>
            </a:extLst>
          </p:cNvPr>
          <p:cNvSpPr txBox="1"/>
          <p:nvPr/>
        </p:nvSpPr>
        <p:spPr>
          <a:xfrm>
            <a:off x="2493169" y="272534"/>
            <a:ext cx="692046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 err="1"/>
              <a:t>Methodische</a:t>
            </a:r>
            <a:r>
              <a:rPr lang="en-US" sz="2800" b="1" dirty="0"/>
              <a:t> </a:t>
            </a:r>
            <a:r>
              <a:rPr lang="en-US" sz="2800" b="1" dirty="0" err="1"/>
              <a:t>Grundlagen</a:t>
            </a:r>
            <a:r>
              <a:rPr lang="en-US" sz="2800" b="1" dirty="0"/>
              <a:t> der </a:t>
            </a:r>
            <a:r>
              <a:rPr lang="en-US" sz="2800" b="1" dirty="0" err="1"/>
              <a:t>Datenanalyse</a:t>
            </a:r>
            <a:endParaRPr lang="LID4096" sz="2800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9214A95-EBF1-91E4-E36D-C618984E8951}"/>
              </a:ext>
            </a:extLst>
          </p:cNvPr>
          <p:cNvSpPr/>
          <p:nvPr/>
        </p:nvSpPr>
        <p:spPr>
          <a:xfrm>
            <a:off x="144410" y="4540250"/>
            <a:ext cx="5432825" cy="1473200"/>
          </a:xfrm>
          <a:prstGeom prst="roundRect">
            <a:avLst/>
          </a:prstGeom>
          <a:noFill/>
          <a:ln w="31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6831301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E51820-5F31-2281-29A3-597D37636E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F01A249C-C956-1742-9127-AA9BACC12AA0}"/>
              </a:ext>
            </a:extLst>
          </p:cNvPr>
          <p:cNvSpPr txBox="1"/>
          <p:nvPr/>
        </p:nvSpPr>
        <p:spPr>
          <a:xfrm>
            <a:off x="358375" y="1490503"/>
            <a:ext cx="609668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de-DE" sz="1400" b="1" dirty="0">
                <a:solidFill>
                  <a:schemeClr val="accent6">
                    <a:lumMod val="75000"/>
                  </a:schemeClr>
                </a:solidFill>
              </a:rPr>
              <a:t>Setup, Daten &amp; Datentypen</a:t>
            </a:r>
            <a:endParaRPr lang="de-DE" sz="1400" dirty="0">
              <a:solidFill>
                <a:schemeClr val="accent6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solidFill>
                  <a:schemeClr val="accent6">
                    <a:lumMod val="75000"/>
                  </a:schemeClr>
                </a:solidFill>
              </a:rPr>
              <a:t>Python, </a:t>
            </a:r>
            <a:r>
              <a:rPr lang="de-DE" sz="1400" dirty="0" err="1">
                <a:solidFill>
                  <a:schemeClr val="accent6">
                    <a:lumMod val="75000"/>
                  </a:schemeClr>
                </a:solidFill>
              </a:rPr>
              <a:t>Jupyter</a:t>
            </a:r>
            <a:r>
              <a:rPr lang="de-DE" sz="1400" dirty="0">
                <a:solidFill>
                  <a:schemeClr val="accent6">
                    <a:lumMod val="75000"/>
                  </a:schemeClr>
                </a:solidFill>
              </a:rPr>
              <a:t> Notebook, Bibliotheken installieren, </a:t>
            </a:r>
            <a:r>
              <a:rPr lang="de-DE" sz="1400" dirty="0" err="1">
                <a:solidFill>
                  <a:schemeClr val="accent6">
                    <a:lumMod val="75000"/>
                  </a:schemeClr>
                </a:solidFill>
              </a:rPr>
              <a:t>VSCode</a:t>
            </a:r>
            <a:endParaRPr lang="de-DE" sz="1400" dirty="0">
              <a:solidFill>
                <a:schemeClr val="accent6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chemeClr val="accent6">
                    <a:lumMod val="75000"/>
                  </a:schemeClr>
                </a:solidFill>
              </a:rPr>
              <a:t>Arbeiten</a:t>
            </a:r>
            <a:r>
              <a:rPr lang="en-US" sz="1400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accent6">
                    <a:lumMod val="75000"/>
                  </a:schemeClr>
                </a:solidFill>
              </a:rPr>
              <a:t>mit</a:t>
            </a:r>
            <a:r>
              <a:rPr lang="en-US" sz="1400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accent6">
                    <a:lumMod val="75000"/>
                  </a:schemeClr>
                </a:solidFill>
              </a:rPr>
              <a:t>Jupyter</a:t>
            </a:r>
            <a:r>
              <a:rPr lang="en-US" sz="1400" dirty="0">
                <a:solidFill>
                  <a:schemeClr val="accent6">
                    <a:lumMod val="75000"/>
                  </a:schemeClr>
                </a:solidFill>
              </a:rPr>
              <a:t> | </a:t>
            </a:r>
            <a:r>
              <a:rPr lang="de-DE" sz="1400" dirty="0">
                <a:solidFill>
                  <a:schemeClr val="accent6">
                    <a:lumMod val="75000"/>
                  </a:schemeClr>
                </a:solidFill>
              </a:rPr>
              <a:t>Überblick über Datentypen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solidFill>
                  <a:schemeClr val="accent6">
                    <a:lumMod val="75000"/>
                  </a:schemeClr>
                </a:solidFill>
              </a:rPr>
              <a:t>Data | Information | Dataset</a:t>
            </a:r>
          </a:p>
          <a:p>
            <a:pPr>
              <a:buFont typeface="Arial" panose="020B0604020202020204" pitchFamily="34" charset="0"/>
              <a:buChar char="•"/>
            </a:pPr>
            <a:endParaRPr lang="de-DE" sz="1400" dirty="0">
              <a:solidFill>
                <a:schemeClr val="accent6">
                  <a:lumMod val="75000"/>
                </a:schemeClr>
              </a:solidFill>
            </a:endParaRPr>
          </a:p>
          <a:p>
            <a:pPr>
              <a:buNone/>
            </a:pPr>
            <a:r>
              <a:rPr lang="de-DE" sz="1400" b="1" dirty="0">
                <a:solidFill>
                  <a:schemeClr val="accent6">
                    <a:lumMod val="75000"/>
                  </a:schemeClr>
                </a:solidFill>
              </a:rPr>
              <a:t>Analyseziele &amp; KPIs definieren</a:t>
            </a:r>
            <a:endParaRPr lang="de-DE" sz="1400" dirty="0">
              <a:solidFill>
                <a:schemeClr val="accent6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solidFill>
                  <a:schemeClr val="accent6">
                    <a:lumMod val="75000"/>
                  </a:schemeClr>
                </a:solidFill>
              </a:rPr>
              <a:t>Analysefragen &amp; Ziele identifizieren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solidFill>
                  <a:schemeClr val="accent6">
                    <a:lumMod val="75000"/>
                  </a:schemeClr>
                </a:solidFill>
              </a:rPr>
              <a:t>KPIs mit Geschäftsentscheidungen verknüpfen</a:t>
            </a:r>
          </a:p>
          <a:p>
            <a:pPr>
              <a:buFont typeface="Arial" panose="020B0604020202020204" pitchFamily="34" charset="0"/>
              <a:buChar char="•"/>
            </a:pPr>
            <a:endParaRPr lang="de-DE" sz="1400" dirty="0">
              <a:solidFill>
                <a:schemeClr val="accent6">
                  <a:lumMod val="75000"/>
                </a:schemeClr>
              </a:solidFill>
            </a:endParaRPr>
          </a:p>
          <a:p>
            <a:pPr>
              <a:buNone/>
            </a:pPr>
            <a:r>
              <a:rPr lang="de-DE" sz="1400" b="1" dirty="0">
                <a:solidFill>
                  <a:schemeClr val="accent6">
                    <a:lumMod val="75000"/>
                  </a:schemeClr>
                </a:solidFill>
              </a:rPr>
              <a:t>Datenerhebung &amp; Datenqualität</a:t>
            </a:r>
            <a:endParaRPr lang="de-DE" sz="1400" dirty="0">
              <a:solidFill>
                <a:schemeClr val="accent6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solidFill>
                  <a:schemeClr val="accent6">
                    <a:lumMod val="75000"/>
                  </a:schemeClr>
                </a:solidFill>
              </a:rPr>
              <a:t>Daten sammeln: APIs, lokale Dateien, unstrukturierte Daten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solidFill>
                  <a:schemeClr val="accent6">
                    <a:lumMod val="75000"/>
                  </a:schemeClr>
                </a:solidFill>
              </a:rPr>
              <a:t>Vollständigkeit, Genauigkeit, Konsistenz prüfen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solidFill>
                  <a:schemeClr val="accent6">
                    <a:lumMod val="75000"/>
                  </a:schemeClr>
                </a:solidFill>
              </a:rPr>
              <a:t>Daten laden &amp; inspizieren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solidFill>
                  <a:schemeClr val="accent6">
                    <a:lumMod val="75000"/>
                  </a:schemeClr>
                </a:solidFill>
              </a:rPr>
              <a:t>Fehlende Werte, Duplikate, Format prüfen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1400" dirty="0">
              <a:solidFill>
                <a:schemeClr val="accent6">
                  <a:lumMod val="75000"/>
                </a:schemeClr>
              </a:solidFill>
            </a:endParaRPr>
          </a:p>
          <a:p>
            <a:pPr>
              <a:buNone/>
            </a:pPr>
            <a:r>
              <a:rPr lang="de-DE" sz="1400" b="1" dirty="0">
                <a:solidFill>
                  <a:schemeClr val="accent6">
                    <a:lumMod val="75000"/>
                  </a:schemeClr>
                </a:solidFill>
              </a:rPr>
              <a:t>Datenbereinigung &amp; -vorbereitung</a:t>
            </a:r>
            <a:endParaRPr lang="de-DE" sz="1400" dirty="0">
              <a:solidFill>
                <a:schemeClr val="accent6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solidFill>
                  <a:schemeClr val="accent6">
                    <a:lumMod val="75000"/>
                  </a:schemeClr>
                </a:solidFill>
              </a:rPr>
              <a:t>Fehlende/falsche Werte korrigieren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solidFill>
                  <a:schemeClr val="accent6">
                    <a:lumMod val="75000"/>
                  </a:schemeClr>
                </a:solidFill>
              </a:rPr>
              <a:t>Formate standardisieren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solidFill>
                  <a:schemeClr val="accent6">
                    <a:lumMod val="75000"/>
                  </a:schemeClr>
                </a:solidFill>
              </a:rPr>
              <a:t>Variablen für Analyse transformieren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FBAC4ED-D61C-F1DD-A015-AA3C007971C4}"/>
              </a:ext>
            </a:extLst>
          </p:cNvPr>
          <p:cNvSpPr txBox="1"/>
          <p:nvPr/>
        </p:nvSpPr>
        <p:spPr>
          <a:xfrm>
            <a:off x="5950910" y="1490503"/>
            <a:ext cx="609668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dirty="0" err="1">
                <a:solidFill>
                  <a:srgbClr val="FF9933"/>
                </a:solidFill>
              </a:rPr>
              <a:t>Datenmodellierung</a:t>
            </a:r>
            <a:r>
              <a:rPr lang="en-US" sz="1600" b="1" dirty="0">
                <a:solidFill>
                  <a:srgbClr val="FF9933"/>
                </a:solidFill>
              </a:rPr>
              <a:t> &amp; Aggregation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Daten in </a:t>
            </a:r>
            <a:r>
              <a:rPr lang="en-US" sz="1600" b="1" dirty="0" err="1"/>
              <a:t>Tabellen</a:t>
            </a:r>
            <a:r>
              <a:rPr lang="en-US" sz="1600" b="1" dirty="0"/>
              <a:t> &amp; </a:t>
            </a:r>
            <a:r>
              <a:rPr lang="en-US" sz="1600" b="1" dirty="0" err="1"/>
              <a:t>Beziehungen</a:t>
            </a:r>
            <a:r>
              <a:rPr lang="en-US" sz="1600" b="1" dirty="0"/>
              <a:t> </a:t>
            </a:r>
            <a:r>
              <a:rPr lang="en-US" sz="1600" b="1" dirty="0" err="1"/>
              <a:t>organisieren</a:t>
            </a:r>
            <a:endParaRPr lang="en-US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Feature Engineering &amp; </a:t>
            </a:r>
            <a:r>
              <a:rPr lang="en-US" sz="1600" b="1" dirty="0" err="1"/>
              <a:t>Aggregationen</a:t>
            </a:r>
            <a:r>
              <a:rPr lang="en-US" sz="1600" b="1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400" dirty="0"/>
          </a:p>
          <a:p>
            <a:r>
              <a:rPr lang="en-US" sz="1400" b="1" dirty="0" err="1">
                <a:solidFill>
                  <a:schemeClr val="accent5">
                    <a:lumMod val="75000"/>
                  </a:schemeClr>
                </a:solidFill>
              </a:rPr>
              <a:t>Deskriptive</a:t>
            </a:r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1400" b="1" dirty="0" err="1">
                <a:solidFill>
                  <a:schemeClr val="accent5">
                    <a:lumMod val="75000"/>
                  </a:schemeClr>
                </a:solidFill>
              </a:rPr>
              <a:t>Statistik</a:t>
            </a:r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 &amp; KPIs</a:t>
            </a:r>
            <a:endParaRPr lang="en-US" sz="1400" dirty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en-US" sz="1400" dirty="0" err="1"/>
              <a:t>Mittelwert</a:t>
            </a:r>
            <a:r>
              <a:rPr lang="en-US" sz="1400" dirty="0"/>
              <a:t>, Median, Modus, </a:t>
            </a:r>
            <a:r>
              <a:rPr lang="en-US" sz="1400" dirty="0" err="1"/>
              <a:t>Standardabweichung</a:t>
            </a:r>
            <a:r>
              <a:rPr lang="en-US" sz="1400" dirty="0"/>
              <a:t>, </a:t>
            </a:r>
            <a:r>
              <a:rPr lang="en-US" sz="1400" dirty="0" err="1"/>
              <a:t>Spannweite</a:t>
            </a:r>
            <a:endParaRPr lang="en-US" sz="1400" dirty="0"/>
          </a:p>
          <a:p>
            <a:r>
              <a:rPr lang="en-US" sz="1400" dirty="0" err="1"/>
              <a:t>Korrelationen</a:t>
            </a:r>
            <a:r>
              <a:rPr lang="en-US" sz="1400" dirty="0"/>
              <a:t> &amp; </a:t>
            </a:r>
            <a:r>
              <a:rPr lang="en-US" sz="1400" dirty="0" err="1"/>
              <a:t>Kreuztabellen</a:t>
            </a:r>
            <a:endParaRPr lang="en-US" sz="1400" dirty="0"/>
          </a:p>
          <a:p>
            <a:endParaRPr lang="en-US" sz="1400" dirty="0"/>
          </a:p>
          <a:p>
            <a:pPr>
              <a:buNone/>
            </a:pPr>
            <a:r>
              <a:rPr lang="en-US" sz="1400" b="1" dirty="0" err="1">
                <a:solidFill>
                  <a:schemeClr val="accent5">
                    <a:lumMod val="75000"/>
                  </a:schemeClr>
                </a:solidFill>
              </a:rPr>
              <a:t>Datenvisualisierung</a:t>
            </a:r>
            <a:endParaRPr lang="en-US" sz="1400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Klassische</a:t>
            </a:r>
            <a:r>
              <a:rPr lang="en-US" sz="1400" dirty="0"/>
              <a:t> </a:t>
            </a:r>
            <a:r>
              <a:rPr lang="en-US" sz="1400" dirty="0" err="1"/>
              <a:t>Diagramme</a:t>
            </a:r>
            <a:r>
              <a:rPr lang="en-US" sz="1400" dirty="0"/>
              <a:t>; </a:t>
            </a:r>
            <a:r>
              <a:rPr lang="en-US" sz="1400" dirty="0" err="1"/>
              <a:t>Balkendiagramm</a:t>
            </a:r>
            <a:r>
              <a:rPr lang="en-US" sz="1400" dirty="0"/>
              <a:t>, </a:t>
            </a:r>
            <a:r>
              <a:rPr lang="en-US" sz="1400" dirty="0" err="1"/>
              <a:t>Histogramm</a:t>
            </a:r>
            <a:r>
              <a:rPr lang="en-US" sz="1400" dirty="0"/>
              <a:t>, Boxplot, </a:t>
            </a:r>
            <a:r>
              <a:rPr lang="en-US" sz="1400" dirty="0" err="1"/>
              <a:t>Liniendiagramm</a:t>
            </a:r>
            <a:r>
              <a:rPr lang="en-US" sz="1400" dirty="0"/>
              <a:t>, </a:t>
            </a:r>
            <a:r>
              <a:rPr lang="en-US" sz="1400" dirty="0" err="1"/>
              <a:t>Streudiagramm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Interaktive</a:t>
            </a:r>
            <a:r>
              <a:rPr lang="en-US" sz="1400" dirty="0"/>
              <a:t> Charts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400" dirty="0"/>
          </a:p>
          <a:p>
            <a:pPr>
              <a:buNone/>
            </a:pPr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Analytics-Workflow &amp; Integration</a:t>
            </a:r>
            <a:endParaRPr lang="en-US" sz="1400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Strukturierter Workflow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Mini-</a:t>
            </a:r>
            <a:r>
              <a:rPr lang="en-US" sz="1400" dirty="0" err="1"/>
              <a:t>Fallbeispiele</a:t>
            </a:r>
            <a:r>
              <a:rPr lang="en-US" sz="1400" dirty="0"/>
              <a:t> </a:t>
            </a:r>
            <a:r>
              <a:rPr lang="en-US" sz="1400" dirty="0" err="1"/>
              <a:t>mit</a:t>
            </a:r>
            <a:r>
              <a:rPr lang="en-US" sz="1400" dirty="0"/>
              <a:t> </a:t>
            </a:r>
            <a:r>
              <a:rPr lang="en-US" sz="1400" dirty="0" err="1"/>
              <a:t>allen</a:t>
            </a:r>
            <a:r>
              <a:rPr lang="en-US" sz="1400" dirty="0"/>
              <a:t> </a:t>
            </a:r>
            <a:r>
              <a:rPr lang="en-US" sz="1400" dirty="0" err="1"/>
              <a:t>vorherigen</a:t>
            </a:r>
            <a:r>
              <a:rPr lang="en-US" sz="1400" dirty="0"/>
              <a:t> </a:t>
            </a:r>
            <a:r>
              <a:rPr lang="en-US" sz="1400" dirty="0" err="1"/>
              <a:t>Schritten</a:t>
            </a:r>
            <a:endParaRPr lang="en-US" sz="1400" dirty="0"/>
          </a:p>
          <a:p>
            <a:endParaRPr lang="en-US" sz="1400" dirty="0"/>
          </a:p>
          <a:p>
            <a:pPr>
              <a:buNone/>
            </a:pPr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Capstone End-to-End Projekt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Vollständige Analyse von der Fragestellung bis zur Präsentation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Alle erlernten Schritte anwenden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Ergebnisse präsentieren &amp; diskutieren</a:t>
            </a:r>
            <a:endParaRPr lang="en-US" sz="14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98F9460-8FB2-0AEE-AAF4-3B4B221943B1}"/>
              </a:ext>
            </a:extLst>
          </p:cNvPr>
          <p:cNvSpPr txBox="1"/>
          <p:nvPr/>
        </p:nvSpPr>
        <p:spPr>
          <a:xfrm>
            <a:off x="2493169" y="272534"/>
            <a:ext cx="692046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 err="1"/>
              <a:t>Methodische</a:t>
            </a:r>
            <a:r>
              <a:rPr lang="en-US" sz="2800" b="1" dirty="0"/>
              <a:t> </a:t>
            </a:r>
            <a:r>
              <a:rPr lang="en-US" sz="2800" b="1" dirty="0" err="1"/>
              <a:t>Grundlagen</a:t>
            </a:r>
            <a:r>
              <a:rPr lang="en-US" sz="2800" b="1" dirty="0"/>
              <a:t> der </a:t>
            </a:r>
            <a:r>
              <a:rPr lang="en-US" sz="2800" b="1" dirty="0" err="1"/>
              <a:t>Datenanalyse</a:t>
            </a:r>
            <a:endParaRPr lang="LID4096" sz="2800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DFEC56E-7F72-EF8A-1689-A040934A976A}"/>
              </a:ext>
            </a:extLst>
          </p:cNvPr>
          <p:cNvSpPr/>
          <p:nvPr/>
        </p:nvSpPr>
        <p:spPr>
          <a:xfrm>
            <a:off x="5668910" y="1308100"/>
            <a:ext cx="5432825" cy="1092200"/>
          </a:xfrm>
          <a:prstGeom prst="roundRect">
            <a:avLst/>
          </a:prstGeom>
          <a:noFill/>
          <a:ln w="31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21812586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24B6E3A-7503-BFCD-7521-182EC439077A}"/>
              </a:ext>
            </a:extLst>
          </p:cNvPr>
          <p:cNvSpPr txBox="1"/>
          <p:nvPr/>
        </p:nvSpPr>
        <p:spPr>
          <a:xfrm>
            <a:off x="668746" y="1218168"/>
            <a:ext cx="74338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Data Storage Architectures / Solutions</a:t>
            </a:r>
          </a:p>
          <a:p>
            <a:endParaRPr lang="LID4096" dirty="0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A1898593-3B6B-E40C-E9BD-BF9E3F2E410E}"/>
              </a:ext>
            </a:extLst>
          </p:cNvPr>
          <p:cNvGrpSpPr/>
          <p:nvPr/>
        </p:nvGrpSpPr>
        <p:grpSpPr>
          <a:xfrm>
            <a:off x="668746" y="1954768"/>
            <a:ext cx="7891313" cy="1305549"/>
            <a:chOff x="902717" y="2234168"/>
            <a:chExt cx="7891313" cy="1305549"/>
          </a:xfrm>
        </p:grpSpPr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B7CA0F34-6C4B-FDAA-110B-9A33EA5BDB5B}"/>
                </a:ext>
              </a:extLst>
            </p:cNvPr>
            <p:cNvSpPr/>
            <p:nvPr/>
          </p:nvSpPr>
          <p:spPr>
            <a:xfrm>
              <a:off x="902717" y="2234168"/>
              <a:ext cx="7891313" cy="1305549"/>
            </a:xfrm>
            <a:prstGeom prst="roundRect">
              <a:avLst/>
            </a:prstGeom>
            <a:solidFill>
              <a:srgbClr val="0066FF">
                <a:alpha val="50196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49BEEBA-A505-5A38-BC1D-3FDC87AB7759}"/>
                </a:ext>
              </a:extLst>
            </p:cNvPr>
            <p:cNvSpPr txBox="1"/>
            <p:nvPr/>
          </p:nvSpPr>
          <p:spPr>
            <a:xfrm>
              <a:off x="2484587" y="2324618"/>
              <a:ext cx="6096000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endParaRPr lang="en-US" b="1" dirty="0"/>
            </a:p>
            <a:p>
              <a:r>
                <a:rPr lang="en-US" b="1" dirty="0"/>
                <a:t>Data Warehouse</a:t>
              </a:r>
              <a:r>
                <a:rPr lang="en-US" dirty="0"/>
                <a:t> – optimized for structured, relational data; supports complex analytics and reporting.</a:t>
              </a:r>
            </a:p>
          </p:txBody>
        </p:sp>
        <p:pic>
          <p:nvPicPr>
            <p:cNvPr id="29" name="Graphic 28" descr="Table">
              <a:extLst>
                <a:ext uri="{FF2B5EF4-FFF2-40B4-BE49-F238E27FC236}">
                  <a16:creationId xmlns:a16="http://schemas.microsoft.com/office/drawing/2014/main" id="{47BA246D-B4CE-67FA-EF6F-56862645556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412693" y="2634015"/>
              <a:ext cx="492788" cy="492788"/>
            </a:xfrm>
            <a:prstGeom prst="rect">
              <a:avLst/>
            </a:prstGeom>
          </p:spPr>
        </p:pic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5F306387-91CA-E81E-8138-245825B09F3F}"/>
              </a:ext>
            </a:extLst>
          </p:cNvPr>
          <p:cNvGrpSpPr/>
          <p:nvPr/>
        </p:nvGrpSpPr>
        <p:grpSpPr>
          <a:xfrm>
            <a:off x="668746" y="3394835"/>
            <a:ext cx="7891313" cy="1305549"/>
            <a:chOff x="2624286" y="3708067"/>
            <a:chExt cx="7891313" cy="1305549"/>
          </a:xfrm>
        </p:grpSpPr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0AC67AFA-C191-1877-1172-5999B4EE8A4B}"/>
                </a:ext>
              </a:extLst>
            </p:cNvPr>
            <p:cNvSpPr/>
            <p:nvPr/>
          </p:nvSpPr>
          <p:spPr>
            <a:xfrm>
              <a:off x="2624286" y="3708067"/>
              <a:ext cx="7891313" cy="1305549"/>
            </a:xfrm>
            <a:prstGeom prst="roundRect">
              <a:avLst/>
            </a:prstGeom>
            <a:solidFill>
              <a:srgbClr val="CC66FF">
                <a:alpha val="50196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pic>
          <p:nvPicPr>
            <p:cNvPr id="16" name="Graphic 15" descr="Image">
              <a:extLst>
                <a:ext uri="{FF2B5EF4-FFF2-40B4-BE49-F238E27FC236}">
                  <a16:creationId xmlns:a16="http://schemas.microsoft.com/office/drawing/2014/main" id="{24FF8AE1-F483-C103-621C-66F15368BDF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2858037" y="3766019"/>
              <a:ext cx="492788" cy="492788"/>
            </a:xfrm>
            <a:prstGeom prst="rect">
              <a:avLst/>
            </a:prstGeom>
          </p:spPr>
        </p:pic>
        <p:pic>
          <p:nvPicPr>
            <p:cNvPr id="18" name="Graphic 17" descr="Clapper board">
              <a:extLst>
                <a:ext uri="{FF2B5EF4-FFF2-40B4-BE49-F238E27FC236}">
                  <a16:creationId xmlns:a16="http://schemas.microsoft.com/office/drawing/2014/main" id="{DFF2DAD9-4D82-BA1C-7C49-3C3E6BAEB99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3441700" y="4393261"/>
              <a:ext cx="492788" cy="492788"/>
            </a:xfrm>
            <a:prstGeom prst="rect">
              <a:avLst/>
            </a:prstGeom>
          </p:spPr>
        </p:pic>
        <p:pic>
          <p:nvPicPr>
            <p:cNvPr id="23" name="Graphic 22" descr="Table">
              <a:extLst>
                <a:ext uri="{FF2B5EF4-FFF2-40B4-BE49-F238E27FC236}">
                  <a16:creationId xmlns:a16="http://schemas.microsoft.com/office/drawing/2014/main" id="{1859789A-08DD-327A-62B6-3F8CC955B20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946274" y="4186117"/>
              <a:ext cx="492788" cy="492788"/>
            </a:xfrm>
            <a:prstGeom prst="rect">
              <a:avLst/>
            </a:prstGeom>
          </p:spPr>
        </p:pic>
        <p:pic>
          <p:nvPicPr>
            <p:cNvPr id="25" name="Graphic 24" descr="Document">
              <a:extLst>
                <a:ext uri="{FF2B5EF4-FFF2-40B4-BE49-F238E27FC236}">
                  <a16:creationId xmlns:a16="http://schemas.microsoft.com/office/drawing/2014/main" id="{754C1A6A-2BBC-B8E0-BC09-F5385E0D8B5D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3464999" y="3932156"/>
              <a:ext cx="492788" cy="492788"/>
            </a:xfrm>
            <a:prstGeom prst="rect">
              <a:avLst/>
            </a:prstGeom>
          </p:spPr>
        </p:pic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15AE9F17-0CDB-181D-D3C2-9CE56FC1B43E}"/>
                </a:ext>
              </a:extLst>
            </p:cNvPr>
            <p:cNvSpPr txBox="1"/>
            <p:nvPr/>
          </p:nvSpPr>
          <p:spPr>
            <a:xfrm>
              <a:off x="4301770" y="3944731"/>
              <a:ext cx="6096000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 dirty="0"/>
                <a:t>Data Lake</a:t>
              </a:r>
              <a:r>
                <a:rPr lang="en-US" dirty="0"/>
                <a:t> – can store structured, semi-structured, and unstructured data; schema-on-read; good for flexible analysis and large-scale storage.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47EFD8C3-A30C-761D-3628-87CE7E6CA70C}"/>
              </a:ext>
            </a:extLst>
          </p:cNvPr>
          <p:cNvGrpSpPr/>
          <p:nvPr/>
        </p:nvGrpSpPr>
        <p:grpSpPr>
          <a:xfrm>
            <a:off x="668746" y="4834903"/>
            <a:ext cx="7909666" cy="1305549"/>
            <a:chOff x="1132608" y="5114303"/>
            <a:chExt cx="7909666" cy="1305549"/>
          </a:xfrm>
        </p:grpSpPr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5E182CCC-6F84-E8C6-758E-94DD23623DD5}"/>
                </a:ext>
              </a:extLst>
            </p:cNvPr>
            <p:cNvSpPr/>
            <p:nvPr/>
          </p:nvSpPr>
          <p:spPr>
            <a:xfrm>
              <a:off x="1132608" y="5114303"/>
              <a:ext cx="7891313" cy="1305549"/>
            </a:xfrm>
            <a:prstGeom prst="roundRect">
              <a:avLst/>
            </a:prstGeom>
            <a:solidFill>
              <a:srgbClr val="FF9933">
                <a:alpha val="50196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pic>
          <p:nvPicPr>
            <p:cNvPr id="26" name="Graphic 25" descr="Image">
              <a:extLst>
                <a:ext uri="{FF2B5EF4-FFF2-40B4-BE49-F238E27FC236}">
                  <a16:creationId xmlns:a16="http://schemas.microsoft.com/office/drawing/2014/main" id="{3CE62877-5552-BEFA-C550-4442010F53A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290306" y="5505091"/>
              <a:ext cx="492788" cy="492788"/>
            </a:xfrm>
            <a:prstGeom prst="rect">
              <a:avLst/>
            </a:prstGeom>
          </p:spPr>
        </p:pic>
        <p:pic>
          <p:nvPicPr>
            <p:cNvPr id="27" name="Graphic 26" descr="Clapper board">
              <a:extLst>
                <a:ext uri="{FF2B5EF4-FFF2-40B4-BE49-F238E27FC236}">
                  <a16:creationId xmlns:a16="http://schemas.microsoft.com/office/drawing/2014/main" id="{42565FF7-B407-EC15-5B0E-19305425650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857193" y="5774664"/>
              <a:ext cx="492788" cy="492788"/>
            </a:xfrm>
            <a:prstGeom prst="rect">
              <a:avLst/>
            </a:prstGeom>
          </p:spPr>
        </p:pic>
        <p:pic>
          <p:nvPicPr>
            <p:cNvPr id="28" name="Graphic 27" descr="Document">
              <a:extLst>
                <a:ext uri="{FF2B5EF4-FFF2-40B4-BE49-F238E27FC236}">
                  <a16:creationId xmlns:a16="http://schemas.microsoft.com/office/drawing/2014/main" id="{E4B0D19F-1BD6-25F9-627E-2E6770BC6B1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931292" y="5288159"/>
              <a:ext cx="492788" cy="492788"/>
            </a:xfrm>
            <a:prstGeom prst="rect">
              <a:avLst/>
            </a:prstGeom>
          </p:spPr>
        </p:pic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93300C4C-D6B9-3230-9EAE-23E841636806}"/>
                </a:ext>
              </a:extLst>
            </p:cNvPr>
            <p:cNvSpPr txBox="1"/>
            <p:nvPr/>
          </p:nvSpPr>
          <p:spPr>
            <a:xfrm>
              <a:off x="2946274" y="5288159"/>
              <a:ext cx="6096000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endParaRPr lang="en-US" dirty="0"/>
            </a:p>
            <a:p>
              <a:r>
                <a:rPr lang="en-US" b="1" dirty="0"/>
                <a:t>Object Storage</a:t>
              </a:r>
              <a:r>
                <a:rPr lang="en-US" dirty="0"/>
                <a:t> – primarily for unstructured data like files, images, videos, or backups; highly scalable and cost-effective.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245168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73AD912-2D1B-D806-8FD9-5CB071F9BC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1405008"/>
              </p:ext>
            </p:extLst>
          </p:nvPr>
        </p:nvGraphicFramePr>
        <p:xfrm>
          <a:off x="838200" y="2255520"/>
          <a:ext cx="10515600" cy="292608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41440219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44313202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70534292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63649462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Data Warehouse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Data Lake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Object Storage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02077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/>
                        <a:t>Data types</a:t>
                      </a:r>
                      <a:endParaRPr 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Structured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Structured, semi-structured, unstructured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Mostly unstructured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71246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/>
                        <a:t>Schema</a:t>
                      </a:r>
                      <a:endParaRPr 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Schema-on-write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Schema-on-read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None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80286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/>
                        <a:t>Access / Query</a:t>
                      </a:r>
                      <a:endParaRPr 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SQL queries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SQL/Spark queries + APIs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APIs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1344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361880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ECC390-0080-D986-A4EA-014DCEA5D6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C4FCE7E-2247-6F14-78CE-EF053ADD2C5F}"/>
              </a:ext>
            </a:extLst>
          </p:cNvPr>
          <p:cNvSpPr txBox="1"/>
          <p:nvPr/>
        </p:nvSpPr>
        <p:spPr>
          <a:xfrm>
            <a:off x="1409700" y="1410038"/>
            <a:ext cx="1019810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>
                <a:solidFill>
                  <a:srgbClr val="FF9933"/>
                </a:solidFill>
              </a:rPr>
              <a:t>Data Modeling Basics</a:t>
            </a:r>
          </a:p>
          <a:p>
            <a:pPr>
              <a:buNone/>
            </a:pPr>
            <a:endParaRPr lang="en-US" sz="28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/>
              <a:t>   Definition:</a:t>
            </a:r>
            <a:r>
              <a:rPr lang="en-US" sz="2800" dirty="0"/>
              <a:t> Designing a </a:t>
            </a:r>
            <a:r>
              <a:rPr lang="en-US" sz="2800" b="1" dirty="0"/>
              <a:t>blueprint of how data is organized</a:t>
            </a:r>
            <a:r>
              <a:rPr lang="en-US" sz="2800" dirty="0"/>
              <a:t> so it can be stored, retrieved, and used efficiently.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   Traditionally involves </a:t>
            </a:r>
            <a:r>
              <a:rPr lang="en-US" sz="2800" b="1" dirty="0"/>
              <a:t>entities, relationships, attributes, and constraints</a:t>
            </a:r>
            <a:r>
              <a:rPr lang="en-US" sz="28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/>
              <a:t>   Classic example:</a:t>
            </a:r>
            <a:r>
              <a:rPr lang="en-US" sz="2800" dirty="0"/>
              <a:t> Designing tables in a relational database with primary keys, foreign keys, and normalization.</a:t>
            </a:r>
          </a:p>
        </p:txBody>
      </p:sp>
    </p:spTree>
    <p:extLst>
      <p:ext uri="{BB962C8B-B14F-4D97-AF65-F5344CB8AC3E}">
        <p14:creationId xmlns:p14="http://schemas.microsoft.com/office/powerpoint/2010/main" val="31688570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F96D8EA-8CB2-71D1-ACE3-D47A8AAE8544}"/>
              </a:ext>
            </a:extLst>
          </p:cNvPr>
          <p:cNvSpPr txBox="1"/>
          <p:nvPr/>
        </p:nvSpPr>
        <p:spPr>
          <a:xfrm>
            <a:off x="673100" y="1035546"/>
            <a:ext cx="4787900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solidFill>
                  <a:srgbClr val="FF9933"/>
                </a:solidFill>
              </a:rPr>
              <a:t>Step-by-Step Data Modeling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endParaRPr lang="en-US" b="1" dirty="0"/>
          </a:p>
          <a:p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Identify Entities (Objects / Things)</a:t>
            </a:r>
            <a:endParaRPr lang="en-US" dirty="0">
              <a:solidFill>
                <a:schemeClr val="accent5">
                  <a:lumMod val="75000"/>
                </a:schemeClr>
              </a:solidFill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Determine the main “objects” in your domain.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Examples:</a:t>
            </a:r>
          </a:p>
          <a:p>
            <a:pPr marL="1143000" lvl="2" indent="-228600">
              <a:buFont typeface="+mj-lt"/>
              <a:buAutoNum type="arabicPeriod"/>
            </a:pPr>
            <a:r>
              <a:rPr lang="en-US" dirty="0"/>
              <a:t>Online store → Customer, Order, Product</a:t>
            </a:r>
          </a:p>
          <a:p>
            <a:pPr marL="1143000" lvl="2" indent="-228600">
              <a:buFont typeface="+mj-lt"/>
              <a:buAutoNum type="arabicPeriod"/>
            </a:pPr>
            <a:r>
              <a:rPr lang="en-US" dirty="0"/>
              <a:t>Stock exchange → Stock, Trade, Trader</a:t>
            </a:r>
          </a:p>
          <a:p>
            <a:pPr marL="1143000" lvl="2" indent="-228600">
              <a:buFont typeface="+mj-lt"/>
              <a:buAutoNum type="arabicPeriod"/>
            </a:pPr>
            <a:endParaRPr lang="en-US" dirty="0"/>
          </a:p>
          <a:p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Identify Attributes (Properties of Entities)</a:t>
            </a:r>
            <a:endParaRPr lang="en-US" dirty="0">
              <a:solidFill>
                <a:schemeClr val="accent5">
                  <a:lumMod val="75000"/>
                </a:schemeClr>
              </a:solidFill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List the data points each entity needs.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Examples:</a:t>
            </a:r>
          </a:p>
          <a:p>
            <a:pPr marL="1143000" lvl="2" indent="-228600">
              <a:buFont typeface="+mj-lt"/>
              <a:buAutoNum type="arabicPeriod"/>
            </a:pPr>
            <a:r>
              <a:rPr lang="en-US" dirty="0"/>
              <a:t>Customer → Name, Email</a:t>
            </a:r>
          </a:p>
          <a:p>
            <a:pPr marL="1143000" lvl="2" indent="-228600">
              <a:buFont typeface="+mj-lt"/>
              <a:buAutoNum type="arabicPeriod"/>
            </a:pPr>
            <a:r>
              <a:rPr lang="en-US" dirty="0"/>
              <a:t>Stock → Symbol, </a:t>
            </a:r>
            <a:r>
              <a:rPr lang="en-US" dirty="0" err="1"/>
              <a:t>CompanyName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B39DF7-8946-9A25-9674-A5CB92DD70FA}"/>
              </a:ext>
            </a:extLst>
          </p:cNvPr>
          <p:cNvSpPr txBox="1"/>
          <p:nvPr/>
        </p:nvSpPr>
        <p:spPr>
          <a:xfrm>
            <a:off x="6451602" y="751344"/>
            <a:ext cx="4787900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0" lvl="2" indent="-228600">
              <a:buFont typeface="+mj-lt"/>
              <a:buAutoNum type="arabicPeriod"/>
            </a:pPr>
            <a:endParaRPr lang="en-US" dirty="0"/>
          </a:p>
          <a:p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Determine Relationships Between Entities</a:t>
            </a:r>
            <a:endParaRPr lang="en-US" dirty="0">
              <a:solidFill>
                <a:schemeClr val="accent5">
                  <a:lumMod val="75000"/>
                </a:schemeClr>
              </a:solidFill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Decide how entities are linked:</a:t>
            </a:r>
          </a:p>
          <a:p>
            <a:pPr marL="1143000" lvl="2" indent="-228600">
              <a:buFont typeface="+mj-lt"/>
              <a:buAutoNum type="arabicPeriod"/>
            </a:pPr>
            <a:r>
              <a:rPr lang="en-US" dirty="0"/>
              <a:t>One-to-One (1:1)</a:t>
            </a:r>
          </a:p>
          <a:p>
            <a:pPr marL="1143000" lvl="2" indent="-228600">
              <a:buFont typeface="+mj-lt"/>
              <a:buAutoNum type="arabicPeriod"/>
            </a:pPr>
            <a:r>
              <a:rPr lang="en-US" dirty="0"/>
              <a:t>One-to-Many (1:N)</a:t>
            </a:r>
          </a:p>
          <a:p>
            <a:pPr marL="1143000" lvl="2" indent="-228600">
              <a:buFont typeface="+mj-lt"/>
              <a:buAutoNum type="arabicPeriod"/>
            </a:pPr>
            <a:r>
              <a:rPr lang="en-US" dirty="0"/>
              <a:t>Many-to-Many (M:N, usually needs a linking table)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Example: Trader → Trade = 1:N</a:t>
            </a:r>
          </a:p>
          <a:p>
            <a:pPr marL="742950" lvl="1" indent="-285750">
              <a:buFont typeface="+mj-lt"/>
              <a:buAutoNum type="arabicPeriod"/>
            </a:pPr>
            <a:endParaRPr lang="en-US" dirty="0"/>
          </a:p>
          <a:p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Assign Keys (Optional in Conceptual Phase)</a:t>
            </a:r>
            <a:endParaRPr lang="en-US" dirty="0">
              <a:solidFill>
                <a:schemeClr val="accent5">
                  <a:lumMod val="75000"/>
                </a:schemeClr>
              </a:solidFill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Primary Key (PK) → unique identifier for each entity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Foreign Key (FK) → links to another entity</a:t>
            </a:r>
          </a:p>
          <a:p>
            <a:endParaRPr lang="en-US" b="1" dirty="0"/>
          </a:p>
          <a:p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Draw a Conceptual Diagram</a:t>
            </a:r>
            <a:endParaRPr lang="en-US" dirty="0">
              <a:solidFill>
                <a:schemeClr val="accent5">
                  <a:lumMod val="75000"/>
                </a:schemeClr>
              </a:solidFill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Boxes for entities, list attributes, arrows for relationships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Keep it </a:t>
            </a:r>
            <a:r>
              <a:rPr lang="en-US" b="1" dirty="0"/>
              <a:t>high-level</a:t>
            </a:r>
            <a:r>
              <a:rPr lang="en-US" dirty="0"/>
              <a:t>, no need to define data types yet</a:t>
            </a:r>
          </a:p>
        </p:txBody>
      </p:sp>
    </p:spTree>
    <p:extLst>
      <p:ext uri="{BB962C8B-B14F-4D97-AF65-F5344CB8AC3E}">
        <p14:creationId xmlns:p14="http://schemas.microsoft.com/office/powerpoint/2010/main" val="22501836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349970-F4C9-9BD7-57A5-531572CC1D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659FD3D0-2E04-86D1-79BB-F9EB3EE08161}"/>
              </a:ext>
            </a:extLst>
          </p:cNvPr>
          <p:cNvSpPr txBox="1"/>
          <p:nvPr/>
        </p:nvSpPr>
        <p:spPr>
          <a:xfrm>
            <a:off x="850900" y="215900"/>
            <a:ext cx="642619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0" lvl="2" indent="-228600">
              <a:buFont typeface="+mj-lt"/>
              <a:buAutoNum type="arabicPeriod"/>
            </a:pPr>
            <a:endParaRPr lang="en-US" sz="2400" dirty="0">
              <a:solidFill>
                <a:srgbClr val="FF9933"/>
              </a:solidFill>
            </a:endParaRPr>
          </a:p>
          <a:p>
            <a:r>
              <a:rPr lang="en-US" sz="2400" b="1" dirty="0">
                <a:solidFill>
                  <a:srgbClr val="FF9933"/>
                </a:solidFill>
              </a:rPr>
              <a:t>Determine Relationships Between Entities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5D95B5-5DDC-2F00-57DE-915B6547556B}"/>
              </a:ext>
            </a:extLst>
          </p:cNvPr>
          <p:cNvSpPr txBox="1"/>
          <p:nvPr/>
        </p:nvSpPr>
        <p:spPr>
          <a:xfrm>
            <a:off x="850900" y="2457778"/>
            <a:ext cx="45339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1:1</a:t>
            </a:r>
            <a:r>
              <a:rPr lang="en-US" dirty="0"/>
              <a:t> – </a:t>
            </a:r>
            <a:r>
              <a:rPr lang="en-US" b="1" dirty="0"/>
              <a:t>Trader → Trading Account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Each trader has </a:t>
            </a:r>
            <a:r>
              <a:rPr lang="en-US" b="1" dirty="0"/>
              <a:t>one trading account</a:t>
            </a:r>
            <a:r>
              <a:rPr lang="en-US" dirty="0"/>
              <a:t>, each account belongs to </a:t>
            </a:r>
            <a:r>
              <a:rPr lang="en-US" b="1" dirty="0"/>
              <a:t>one trader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None/>
            </a:pPr>
            <a:r>
              <a:rPr lang="en-US" b="1" dirty="0"/>
              <a:t>1:N</a:t>
            </a:r>
            <a:r>
              <a:rPr lang="en-US" dirty="0"/>
              <a:t> – </a:t>
            </a:r>
            <a:r>
              <a:rPr lang="en-US" b="1" dirty="0"/>
              <a:t>Trader → Trade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One trader can make </a:t>
            </a:r>
            <a:r>
              <a:rPr lang="en-US" b="1" dirty="0"/>
              <a:t>many trades</a:t>
            </a:r>
            <a:r>
              <a:rPr lang="en-US" dirty="0"/>
              <a:t>, each trade belongs to </a:t>
            </a:r>
            <a:r>
              <a:rPr lang="en-US" b="1" dirty="0"/>
              <a:t>one trader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None/>
            </a:pPr>
            <a:r>
              <a:rPr lang="en-US" b="1" dirty="0"/>
              <a:t>M:N</a:t>
            </a:r>
            <a:r>
              <a:rPr lang="en-US" dirty="0"/>
              <a:t> – </a:t>
            </a:r>
            <a:r>
              <a:rPr lang="en-US" b="1" dirty="0"/>
              <a:t>Trade → Stock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One trade can include </a:t>
            </a:r>
            <a:r>
              <a:rPr lang="en-US" b="1" dirty="0"/>
              <a:t>many stocks</a:t>
            </a:r>
            <a:r>
              <a:rPr lang="en-US" dirty="0"/>
              <a:t>, one stock can appear in </a:t>
            </a:r>
            <a:r>
              <a:rPr lang="en-US" b="1" dirty="0"/>
              <a:t>many trades</a:t>
            </a:r>
            <a:r>
              <a:rPr lang="en-US" dirty="0"/>
              <a:t> (via a linking table, e.g., </a:t>
            </a:r>
            <a:r>
              <a:rPr lang="en-US" dirty="0" err="1"/>
              <a:t>TradeDetails</a:t>
            </a:r>
            <a:r>
              <a:rPr lang="en-US" dirty="0"/>
              <a:t>).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47DFF41-DCE4-F53C-5D7F-8AC8466F05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0746" y="2207623"/>
            <a:ext cx="6223877" cy="4149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12641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7838</TotalTime>
  <Words>1751</Words>
  <Application>Microsoft Office PowerPoint</Application>
  <PresentationFormat>Widescreen</PresentationFormat>
  <Paragraphs>439</Paragraphs>
  <Slides>12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Datenanalyse Data Analysis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ali zolfagharian</dc:creator>
  <cp:lastModifiedBy>ali zolfagharian</cp:lastModifiedBy>
  <cp:revision>48</cp:revision>
  <dcterms:created xsi:type="dcterms:W3CDTF">2026-02-20T09:06:58Z</dcterms:created>
  <dcterms:modified xsi:type="dcterms:W3CDTF">2026-02-27T06:35:15Z</dcterms:modified>
</cp:coreProperties>
</file>