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264" r:id="rId3"/>
    <p:sldId id="260" r:id="rId4"/>
    <p:sldId id="262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9999"/>
    <a:srgbClr val="336699"/>
    <a:srgbClr val="FFC000"/>
    <a:srgbClr val="993300"/>
    <a:srgbClr val="339966"/>
    <a:srgbClr val="3366CC"/>
    <a:srgbClr val="0066CC"/>
    <a:srgbClr val="CC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6192" autoAdjust="0"/>
  </p:normalViewPr>
  <p:slideViewPr>
    <p:cSldViewPr snapToGrid="0">
      <p:cViewPr varScale="1">
        <p:scale>
          <a:sx n="75" d="100"/>
          <a:sy n="75" d="100"/>
        </p:scale>
        <p:origin x="10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F8E1-3F98-2D4A-A187-71A87BA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9535-D580-53FC-AF97-E3C06BE41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D207-9405-7961-89E3-DF8DAFBA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A030-4A91-82F2-0663-BBAB7286E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2992-7B48-9FE1-78D7-623B019D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0BBA3-9D65-FC71-6287-5D4924FB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2E1E5-197B-131C-DF3C-5A12B9A6D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187BA-927C-256A-7E34-B02B06FC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34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E610-3FCA-A182-F213-9B82EC3B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49AF3-A4E7-8600-029D-5D0BC82CD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2A2F2-206C-CE16-D64D-296F5F6D7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87D6D-5FFD-AA61-BF5F-A9FA71BC3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5186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9A56-7D77-E11B-D1B2-4AA74891B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1EA67-EC51-B0D2-42B7-F590E5EF5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9DCEE-B8BE-8D77-8E30-BD7FE41D7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A397B-DE82-C8CC-AD85-47687934E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0468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08251-3F0E-C884-9C28-B4F9BC8B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4730C-430C-D8BB-B443-7D67D34C6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E8398-8F05-7A95-48EB-4E3AECB55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8D069-D847-FE09-CAF7-1B0BC0A35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1788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EA3F-197A-76B1-5EE7-87004693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0B9CC-835B-C671-0EB4-5FE1F6216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A2371-4501-E550-5CC8-EE607C6CF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30B1-C004-6F07-56EC-16298D3E7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4174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E4BE-88F5-A9B8-131F-B340B4CA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6912A-67EE-48A7-B847-88337BADB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6CBDF-CDB2-A020-270D-66DD567D3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B631-96B6-7C85-148D-6D6187C03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0690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5D9D-25A3-50D1-E565-0C7AC06B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BE923-C65D-8F54-BA21-E31B14EEA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1AB45-5D77-3A3D-2C9B-4A43D3E87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59AC3-C706-009B-033C-32DB46958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7527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4EF4-34F0-39CD-4990-B4FD2383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8D2A7-EF2A-ED76-48CA-D4E86D6C0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B5485-83CD-4ADC-788C-3012DA67A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26DFF-682A-F89C-8456-81E256D8F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3139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6AC-30C4-2912-C852-F8A9E4A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AE1D1E8-BB27-9F07-6D1A-519FABFBAFBE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5D11-0392-D029-394E-0E2E29F38FDB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Aggregation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Daten in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Tabellen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Beziehungen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organisieren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Feature Engineering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Aggregationen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KPIs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Mittelwert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Median, Modus,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Standardabweichung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Spannweite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Korrelationen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Kreuztabellen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Klassische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Diagramme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Balkendiagramm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Histogramm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Boxplot,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Liniendiagramm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Streudiagramm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Interaktive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Mini-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Fallbeispiele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vorherigen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Schritten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Ergebnisse präsentieren &amp; diskutieren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1F9C1-4711-A265-C578-3AF4BAD66930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7597A-65BE-0742-AA12-965AEC469016}"/>
              </a:ext>
            </a:extLst>
          </p:cNvPr>
          <p:cNvSpPr/>
          <p:nvPr/>
        </p:nvSpPr>
        <p:spPr>
          <a:xfrm>
            <a:off x="358375" y="2451100"/>
            <a:ext cx="4823225" cy="9779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5252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CC72-8B28-3CB6-EC81-ABF8B87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083F8FC-B480-AF3F-CB51-6D5B8D465A26}"/>
              </a:ext>
            </a:extLst>
          </p:cNvPr>
          <p:cNvSpPr txBox="1"/>
          <p:nvPr/>
        </p:nvSpPr>
        <p:spPr>
          <a:xfrm>
            <a:off x="358375" y="1490503"/>
            <a:ext cx="60966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Datenerhebung &amp; Datenqualität</a:t>
            </a:r>
            <a:endParaRPr lang="de-DE" sz="1600" dirty="0">
              <a:solidFill>
                <a:srgbClr val="FF99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1BE8F-5A43-A69A-0931-18E6C45C3281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DEE66-84C2-089A-11D6-AC6E73C1BCF3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0CC33B-3194-5EB6-66DC-C1C42FDAC122}"/>
              </a:ext>
            </a:extLst>
          </p:cNvPr>
          <p:cNvSpPr/>
          <p:nvPr/>
        </p:nvSpPr>
        <p:spPr>
          <a:xfrm>
            <a:off x="358375" y="33464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3449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8831-339B-D956-22F3-818D0BEC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B2966E-3E7F-72AA-CA12-77B6C292F249}"/>
              </a:ext>
            </a:extLst>
          </p:cNvPr>
          <p:cNvSpPr txBox="1"/>
          <p:nvPr/>
        </p:nvSpPr>
        <p:spPr>
          <a:xfrm>
            <a:off x="3900263" y="2177554"/>
            <a:ext cx="74794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Datenerhebung</a:t>
            </a:r>
            <a:r>
              <a:rPr lang="en-US" sz="2000" b="1" dirty="0"/>
              <a:t> &amp; Data Quality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Warum</a:t>
            </a:r>
            <a:r>
              <a:rPr lang="en-US" sz="2000" dirty="0"/>
              <a:t> </a:t>
            </a:r>
            <a:r>
              <a:rPr lang="en-US" sz="2000" dirty="0" err="1"/>
              <a:t>sind</a:t>
            </a:r>
            <a:r>
              <a:rPr lang="en-US" sz="2000" dirty="0"/>
              <a:t> Data Collection &amp; Data Quality </a:t>
            </a:r>
            <a:r>
              <a:rPr lang="en-US" sz="2000" dirty="0" err="1"/>
              <a:t>wichtig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Basis </a:t>
            </a:r>
            <a:r>
              <a:rPr lang="en-US" sz="2000" dirty="0" err="1"/>
              <a:t>jeder</a:t>
            </a:r>
            <a:r>
              <a:rPr lang="en-US" sz="2000" dirty="0"/>
              <a:t> Data Analysis„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Falsche Daten beeinflussen alle Ergebnisse der Datenanalyse</a:t>
            </a:r>
            <a:endParaRPr lang="LID4096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CD78BB-DAF1-4EB9-B33B-58C811303A8C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04247F-EC40-3C85-CD0E-F4351F5B8C10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401ED047-3A5A-CD2B-B59B-07916FF02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1E0989-3214-C0E7-12C6-69E153E4922D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544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5AC5-B810-992D-C4F3-4CC56E9E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30C8A2-73F5-C425-AB07-A2F8D0BB4DEF}"/>
              </a:ext>
            </a:extLst>
          </p:cNvPr>
          <p:cNvSpPr txBox="1"/>
          <p:nvPr/>
        </p:nvSpPr>
        <p:spPr>
          <a:xfrm>
            <a:off x="4045825" y="1165813"/>
            <a:ext cx="747942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Sources Categories in Data Analysis</a:t>
            </a:r>
          </a:p>
          <a:p>
            <a:endParaRPr lang="en-US" sz="1600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b="1" dirty="0">
                <a:latin typeface="Arial" panose="020B0604020202020204" pitchFamily="34" charset="0"/>
              </a:rPr>
              <a:t>APIs</a:t>
            </a:r>
            <a:r>
              <a:rPr lang="LID4096" altLang="LID4096" sz="1600" dirty="0">
                <a:latin typeface="Arial" panose="020B0604020202020204" pitchFamily="34" charset="0"/>
              </a:rPr>
              <a:t> – Structured data accessed programmatically from external services over the internet (usually JSON or XML via HTTP).</a:t>
            </a:r>
            <a:endParaRPr lang="en-US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b="1" dirty="0">
                <a:latin typeface="Arial" panose="020B0604020202020204" pitchFamily="34" charset="0"/>
              </a:rPr>
              <a:t>Web Data (Scraping)</a:t>
            </a:r>
            <a:r>
              <a:rPr lang="LID4096" altLang="LID4096" sz="1600" dirty="0">
                <a:latin typeface="Arial" panose="020B0604020202020204" pitchFamily="34" charset="0"/>
              </a:rPr>
              <a:t> – Data extracted directly from website pages by parsing HTML content.</a:t>
            </a:r>
            <a:endParaRPr lang="en-US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b="1" dirty="0">
                <a:latin typeface="Arial" panose="020B0604020202020204" pitchFamily="34" charset="0"/>
              </a:rPr>
              <a:t>Local Files</a:t>
            </a:r>
            <a:r>
              <a:rPr lang="LID4096" altLang="LID4096" sz="1600" dirty="0">
                <a:latin typeface="Arial" panose="020B0604020202020204" pitchFamily="34" charset="0"/>
              </a:rPr>
              <a:t> – Data stored on a local or shared system in formats like CSV, Excel, JSON, images, or logs.</a:t>
            </a:r>
            <a:endParaRPr lang="en-US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b="1" dirty="0">
                <a:latin typeface="Arial" panose="020B0604020202020204" pitchFamily="34" charset="0"/>
              </a:rPr>
              <a:t>Databases</a:t>
            </a:r>
            <a:r>
              <a:rPr lang="LID4096" altLang="LID4096" sz="1600" dirty="0">
                <a:latin typeface="Arial" panose="020B0604020202020204" pitchFamily="34" charset="0"/>
              </a:rPr>
              <a:t> – Structured data stored in database systems (SQL or NoSQL) and accessed through queries.</a:t>
            </a:r>
            <a:endParaRPr lang="en-US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b="1" dirty="0">
                <a:latin typeface="Arial" panose="020B0604020202020204" pitchFamily="34" charset="0"/>
              </a:rPr>
              <a:t>Sensors &amp; IoT</a:t>
            </a:r>
            <a:r>
              <a:rPr lang="LID4096" altLang="LID4096" sz="1600" dirty="0">
                <a:latin typeface="Arial" panose="020B0604020202020204" pitchFamily="34" charset="0"/>
              </a:rPr>
              <a:t> – Real-time data generated by physical devices (e.g., temperature, GPS, wearables) and transmitted digitally.</a:t>
            </a:r>
            <a:endParaRPr lang="en-US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b="1" dirty="0">
                <a:latin typeface="Arial" panose="020B0604020202020204" pitchFamily="34" charset="0"/>
              </a:rPr>
              <a:t>User-Generated Data</a:t>
            </a:r>
            <a:r>
              <a:rPr lang="LID4096" altLang="LID4096" sz="1600" dirty="0">
                <a:latin typeface="Arial" panose="020B0604020202020204" pitchFamily="34" charset="0"/>
              </a:rPr>
              <a:t> – Data created directly by users, such as surveys, reviews, form inputs, or social media posts.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endParaRPr lang="en-US" sz="2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F13042-91DC-E055-5A91-D68557B57D70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FBD7B7-30CE-8F28-E95F-BB67C04E10B0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267176E8-06D5-3A8E-0FDD-3542451BF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355D5D-BD13-B5BE-6DD8-487B04E3F333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946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D42F-1BF1-1F64-2810-CB27B53E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DE8F1C-D7A8-0B5B-0F28-CB6983CE8BF4}"/>
              </a:ext>
            </a:extLst>
          </p:cNvPr>
          <p:cNvSpPr txBox="1"/>
          <p:nvPr/>
        </p:nvSpPr>
        <p:spPr>
          <a:xfrm>
            <a:off x="4045825" y="1443394"/>
            <a:ext cx="747942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APIs (Application Programming Interfaces)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Structured Remote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REST / </a:t>
            </a:r>
            <a:r>
              <a:rPr lang="en-US" sz="1600" dirty="0" err="1"/>
              <a:t>GraphQL</a:t>
            </a:r>
            <a:r>
              <a:rPr lang="en-US" sz="1600" dirty="0"/>
              <a:t>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Government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Social Media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Financial / Weather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OpenWeather</a:t>
            </a:r>
            <a:r>
              <a:rPr lang="en-US" sz="1600" dirty="0"/>
              <a:t>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X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World Bank Open Data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Characteristics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JSON / XML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or near real-time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Authentication &amp; rate limits</a:t>
            </a:r>
          </a:p>
          <a:p>
            <a:endParaRPr lang="en-US" sz="2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B152BC-CEE5-E2E0-42D8-084715DC6A21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8C029F-22FC-2C6C-0882-E836822F32DF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9FD5FCB8-E3FB-4DE3-9242-548B214AC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4C1D3B-5E00-ADEE-88D7-2CA514761040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454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0845C-C90D-02D2-FF26-FBA40B80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153988-6B06-36B5-59EB-00133ECB27C2}"/>
              </a:ext>
            </a:extLst>
          </p:cNvPr>
          <p:cNvSpPr txBox="1"/>
          <p:nvPr/>
        </p:nvSpPr>
        <p:spPr>
          <a:xfrm>
            <a:off x="4045825" y="2192694"/>
            <a:ext cx="74794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Web Data (Scraping / Crawling)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Data from HTML Websites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News sites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E-commerce listings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Online directories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Wikipedia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Examples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Amazon product pages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Wikipedia articles</a:t>
            </a:r>
          </a:p>
          <a:p>
            <a:pPr lvl="1" algn="r"/>
            <a:r>
              <a:rPr lang="en-US" sz="1600" dirty="0">
                <a:solidFill>
                  <a:srgbClr val="FF9933"/>
                </a:solidFill>
              </a:rPr>
              <a:t>⚠ Legal &amp; ethical constraints</a:t>
            </a:r>
          </a:p>
          <a:p>
            <a:pPr lvl="1" algn="r"/>
            <a:r>
              <a:rPr lang="en-US" sz="1600" dirty="0">
                <a:solidFill>
                  <a:srgbClr val="FF9933"/>
                </a:solidFill>
              </a:rPr>
              <a:t>robots.txt</a:t>
            </a:r>
          </a:p>
          <a:p>
            <a:pPr lvl="1" algn="r"/>
            <a:r>
              <a:rPr lang="en-US" sz="1600" dirty="0">
                <a:solidFill>
                  <a:srgbClr val="FF9933"/>
                </a:solidFill>
              </a:rPr>
              <a:t>Terms of Service (TOS)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94C68D-02C5-C183-B77F-C97E0E1EA930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764600-D832-AC10-A2E5-393AD65309C8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73E5144E-939D-CB80-9A08-3B57C1DA7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9226AC-6BCB-4DA2-8A17-70C287E9A636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4571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1290-A7D0-4C07-5601-656F4760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608D99-DD6A-C7DB-DD8C-35C79DB6F519}"/>
              </a:ext>
            </a:extLst>
          </p:cNvPr>
          <p:cNvSpPr txBox="1"/>
          <p:nvPr/>
        </p:nvSpPr>
        <p:spPr>
          <a:xfrm>
            <a:off x="4236325" y="1290089"/>
            <a:ext cx="747942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Local Files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Structured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Excel (.xlsx)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JSON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XML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Unstructured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PDFs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Images / Audio / Video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Log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Examples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Sensor export CSV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Survey Excel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System log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9CEE2E-BFFC-847A-C1D7-AF265609D845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6E55D9-7AF3-3743-5D44-C8326EB6B817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FC19DCBE-D6E0-B1E3-0DAB-687B3D339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83D524-70AE-E81E-EA12-E92F6F87F409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08647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DD80B-7354-F0C3-796D-80FAFBFB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B0CFAF-C849-7206-0D3C-0D2AA06CF804}"/>
              </a:ext>
            </a:extLst>
          </p:cNvPr>
          <p:cNvSpPr txBox="1"/>
          <p:nvPr/>
        </p:nvSpPr>
        <p:spPr>
          <a:xfrm>
            <a:off x="4350625" y="2511360"/>
            <a:ext cx="747942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Structured Storage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SQL (MySQL, PostgreSQL)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NoSQL (MongoDB, Cassandra)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Warehouses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Lakes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experiment DB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C051D6-4E27-FF5F-8937-C90B1BEE5F8F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C26F3B-4D8F-B591-E99C-3E9227A32392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8475FF9C-9673-9BFC-08A9-9A487F56F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E11C68-AB4F-52BC-D06D-9329ECDF01AB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39294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08F6-9129-BB6F-D460-CED42DBA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8A146D-5312-E078-4F9B-9748C5F7FA92}"/>
              </a:ext>
            </a:extLst>
          </p:cNvPr>
          <p:cNvSpPr txBox="1"/>
          <p:nvPr/>
        </p:nvSpPr>
        <p:spPr>
          <a:xfrm>
            <a:off x="4350625" y="2511360"/>
            <a:ext cx="747942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Structured Storage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SQL (MySQL, PostgreSQL)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NoSQL (MongoDB, Cassandra)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Warehouses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Lakes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experiment DB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01A2C0-4CDC-0770-3E23-EF9F405455E4}"/>
              </a:ext>
            </a:extLst>
          </p:cNvPr>
          <p:cNvSpPr/>
          <p:nvPr/>
        </p:nvSpPr>
        <p:spPr>
          <a:xfrm>
            <a:off x="666750" y="1165813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C37391-6AB8-95A1-BA10-61694B71E5A8}"/>
              </a:ext>
            </a:extLst>
          </p:cNvPr>
          <p:cNvGrpSpPr/>
          <p:nvPr/>
        </p:nvGrpSpPr>
        <p:grpSpPr>
          <a:xfrm>
            <a:off x="698012" y="1596960"/>
            <a:ext cx="2004850" cy="3118670"/>
            <a:chOff x="2521648" y="1455763"/>
            <a:chExt cx="2004850" cy="3118670"/>
          </a:xfrm>
        </p:grpSpPr>
        <p:pic>
          <p:nvPicPr>
            <p:cNvPr id="8" name="Graphic 7" descr="Database">
              <a:extLst>
                <a:ext uri="{FF2B5EF4-FFF2-40B4-BE49-F238E27FC236}">
                  <a16:creationId xmlns:a16="http://schemas.microsoft.com/office/drawing/2014/main" id="{5EA3B58E-7798-5D2C-F61E-E0E02D64C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167E12-E488-05F9-A170-75BF0EE3FE7C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5563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5736</TotalTime>
  <Words>1289</Words>
  <Application>Microsoft Office PowerPoint</Application>
  <PresentationFormat>Widescreen</PresentationFormat>
  <Paragraphs>323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39</cp:revision>
  <dcterms:created xsi:type="dcterms:W3CDTF">2026-02-20T09:06:58Z</dcterms:created>
  <dcterms:modified xsi:type="dcterms:W3CDTF">2026-02-25T06:54:57Z</dcterms:modified>
</cp:coreProperties>
</file>