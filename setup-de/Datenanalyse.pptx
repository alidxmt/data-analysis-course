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99F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6192" autoAdjust="0"/>
  </p:normalViewPr>
  <p:slideViewPr>
    <p:cSldViewPr snapToGrid="0">
      <p:cViewPr varScale="1">
        <p:scale>
          <a:sx n="75" d="100"/>
          <a:sy n="75" d="100"/>
        </p:scale>
        <p:origin x="152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F45C-B4A1-4048-BF7F-D1617E8131E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2D7CD-EEF3-4145-A484-A9D67FF727B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9142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Question</a:t>
            </a:r>
          </a:p>
          <a:p>
            <a:r>
              <a:rPr lang="en-US" dirty="0"/>
              <a:t>Define the problem</a:t>
            </a:r>
          </a:p>
          <a:p>
            <a:r>
              <a:rPr lang="en-US" dirty="0"/>
              <a:t>Determine the relevant key metrics</a:t>
            </a:r>
          </a:p>
          <a:p>
            <a:r>
              <a:rPr lang="en-US" dirty="0"/>
              <a:t>What drives customer satisfaction?</a:t>
            </a:r>
          </a:p>
          <a:p>
            <a:r>
              <a:rPr lang="en-US" b="1" dirty="0"/>
              <a:t>Data Collection</a:t>
            </a:r>
          </a:p>
          <a:p>
            <a:r>
              <a:rPr lang="en-US" dirty="0"/>
              <a:t>Gathering data from databases, APIs, web scraping</a:t>
            </a:r>
          </a:p>
          <a:p>
            <a:r>
              <a:rPr lang="en-US" dirty="0"/>
              <a:t>Product reviews, delivery times</a:t>
            </a:r>
          </a:p>
          <a:p>
            <a:r>
              <a:rPr lang="en-US" dirty="0"/>
              <a:t>Prices &amp; discounts</a:t>
            </a:r>
          </a:p>
          <a:p>
            <a:r>
              <a:rPr lang="en-US" b="1" dirty="0"/>
              <a:t>Preparation</a:t>
            </a:r>
          </a:p>
          <a:p>
            <a:r>
              <a:rPr lang="en-US" dirty="0"/>
              <a:t>Cleaning missing or incomplete data</a:t>
            </a:r>
          </a:p>
          <a:p>
            <a:r>
              <a:rPr lang="en-US" dirty="0"/>
              <a:t>Transforming and structuring raw data</a:t>
            </a:r>
          </a:p>
          <a:p>
            <a:r>
              <a:rPr lang="en-US" dirty="0"/>
              <a:t>e.g., EUR, USD</a:t>
            </a:r>
          </a:p>
          <a:p>
            <a:r>
              <a:rPr lang="en-US" b="1" dirty="0"/>
              <a:t>Analysis</a:t>
            </a:r>
          </a:p>
          <a:p>
            <a:r>
              <a:rPr lang="en-US" dirty="0"/>
              <a:t>Statistical evaluation</a:t>
            </a:r>
          </a:p>
          <a:p>
            <a:r>
              <a:rPr lang="en-US" dirty="0"/>
              <a:t>Correlations</a:t>
            </a:r>
          </a:p>
          <a:p>
            <a:r>
              <a:rPr lang="en-US" dirty="0"/>
              <a:t>Pattern recognition</a:t>
            </a:r>
          </a:p>
          <a:p>
            <a:r>
              <a:rPr lang="en-US" dirty="0"/>
              <a:t>Applying models to gain insights</a:t>
            </a:r>
          </a:p>
          <a:p>
            <a:r>
              <a:rPr lang="en-US" b="1" dirty="0"/>
              <a:t>Sharing</a:t>
            </a:r>
          </a:p>
          <a:p>
            <a:r>
              <a:rPr lang="en-US" dirty="0"/>
              <a:t>Reports</a:t>
            </a:r>
          </a:p>
          <a:p>
            <a:r>
              <a:rPr lang="en-US" dirty="0"/>
              <a:t>Presentations</a:t>
            </a:r>
          </a:p>
          <a:p>
            <a:r>
              <a:rPr lang="en-US" dirty="0"/>
              <a:t>Data storytelling</a:t>
            </a:r>
          </a:p>
          <a:p>
            <a:r>
              <a:rPr lang="en-US" dirty="0"/>
              <a:t>Provide clear recommendations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86407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Setup, Data &amp; Data Types</a:t>
            </a:r>
            <a:endParaRPr lang="en-US" dirty="0"/>
          </a:p>
          <a:p>
            <a:r>
              <a:rPr lang="en-US" dirty="0"/>
              <a:t>Install Python, Notebooks, Libraries</a:t>
            </a:r>
          </a:p>
          <a:p>
            <a:r>
              <a:rPr lang="en-US" dirty="0"/>
              <a:t>Overview of Data Types</a:t>
            </a:r>
          </a:p>
          <a:p>
            <a:r>
              <a:rPr lang="en-US" dirty="0"/>
              <a:t>Data | Information</a:t>
            </a:r>
          </a:p>
          <a:p>
            <a:r>
              <a:rPr lang="en-US" b="1" dirty="0"/>
              <a:t>Define Analysis Goals &amp; KPIs</a:t>
            </a:r>
            <a:endParaRPr lang="en-US" dirty="0"/>
          </a:p>
          <a:p>
            <a:r>
              <a:rPr lang="en-US" dirty="0"/>
              <a:t>Identify analysis questions &amp; objectives</a:t>
            </a:r>
          </a:p>
          <a:p>
            <a:r>
              <a:rPr lang="en-US" dirty="0"/>
              <a:t>Link KPIs to business decisions</a:t>
            </a:r>
          </a:p>
          <a:p>
            <a:r>
              <a:rPr lang="en-US" b="1" dirty="0"/>
              <a:t>Data Gathering &amp; Quality</a:t>
            </a:r>
            <a:endParaRPr lang="en-US" dirty="0"/>
          </a:p>
          <a:p>
            <a:r>
              <a:rPr lang="en-US" dirty="0"/>
              <a:t>Collect data: APIs, local files, unstructured data</a:t>
            </a:r>
          </a:p>
          <a:p>
            <a:r>
              <a:rPr lang="en-US" dirty="0"/>
              <a:t>Check completeness, accuracy, consistency</a:t>
            </a:r>
          </a:p>
          <a:p>
            <a:r>
              <a:rPr lang="en-US" dirty="0"/>
              <a:t>Load &amp; inspect datasets</a:t>
            </a:r>
          </a:p>
          <a:p>
            <a:r>
              <a:rPr lang="en-US" dirty="0"/>
              <a:t>Check for missing values, duplicates, formatting</a:t>
            </a:r>
          </a:p>
          <a:p>
            <a:r>
              <a:rPr lang="en-US" b="1" dirty="0"/>
              <a:t>Data Cleaning &amp; Preparation</a:t>
            </a:r>
            <a:endParaRPr lang="en-US" dirty="0"/>
          </a:p>
          <a:p>
            <a:r>
              <a:rPr lang="en-US" dirty="0"/>
              <a:t>Correct missing / incorrect values</a:t>
            </a:r>
          </a:p>
          <a:p>
            <a:r>
              <a:rPr lang="en-US" dirty="0"/>
              <a:t>Standardize formats</a:t>
            </a:r>
          </a:p>
          <a:p>
            <a:r>
              <a:rPr lang="en-US" dirty="0"/>
              <a:t>Transform variables for analysis</a:t>
            </a:r>
          </a:p>
          <a:p>
            <a:r>
              <a:rPr lang="en-US" b="1" dirty="0"/>
              <a:t>Data Modeling &amp; Aggregation</a:t>
            </a:r>
            <a:endParaRPr lang="en-US" dirty="0"/>
          </a:p>
          <a:p>
            <a:r>
              <a:rPr lang="en-US" dirty="0"/>
              <a:t>Organize data into tables &amp; relationships</a:t>
            </a:r>
          </a:p>
          <a:p>
            <a:r>
              <a:rPr lang="en-US" dirty="0"/>
              <a:t>Feature engineering &amp; aggregations</a:t>
            </a:r>
          </a:p>
          <a:p>
            <a:r>
              <a:rPr lang="en-US" b="1" dirty="0"/>
              <a:t>Descriptive Statistics &amp; KPIs</a:t>
            </a:r>
            <a:endParaRPr lang="en-US" dirty="0"/>
          </a:p>
          <a:p>
            <a:r>
              <a:rPr lang="en-US" dirty="0"/>
              <a:t>Mean, Median, Mode, Standard Deviation, Range</a:t>
            </a:r>
          </a:p>
          <a:p>
            <a:r>
              <a:rPr lang="en-US" dirty="0"/>
              <a:t>Correlations &amp; Cross-tabs</a:t>
            </a:r>
          </a:p>
          <a:p>
            <a:r>
              <a:rPr lang="en-US" b="1" dirty="0"/>
              <a:t>Data Visualization</a:t>
            </a:r>
            <a:endParaRPr lang="en-US" dirty="0"/>
          </a:p>
          <a:p>
            <a:r>
              <a:rPr lang="en-US" dirty="0"/>
              <a:t>Classic charts: Bar chart, Histogram, Boxplot, Line chart, Scatter plot</a:t>
            </a:r>
          </a:p>
          <a:p>
            <a:r>
              <a:rPr lang="en-US" dirty="0"/>
              <a:t>Interactive charts</a:t>
            </a:r>
          </a:p>
          <a:p>
            <a:r>
              <a:rPr lang="en-US" b="1" dirty="0"/>
              <a:t>Analytics Workflow &amp; Integration</a:t>
            </a:r>
            <a:endParaRPr lang="en-US" dirty="0"/>
          </a:p>
          <a:p>
            <a:r>
              <a:rPr lang="en-US" dirty="0"/>
              <a:t>Structured workflow</a:t>
            </a:r>
          </a:p>
          <a:p>
            <a:r>
              <a:rPr lang="en-US" dirty="0"/>
              <a:t>Mini case studies using all previous steps</a:t>
            </a:r>
          </a:p>
          <a:p>
            <a:r>
              <a:rPr lang="en-US" b="1" dirty="0"/>
              <a:t>Capstone End-to-End Project</a:t>
            </a:r>
            <a:endParaRPr lang="en-US" dirty="0"/>
          </a:p>
          <a:p>
            <a:r>
              <a:rPr lang="en-US" dirty="0"/>
              <a:t>Complete analysis from question to presentation</a:t>
            </a:r>
          </a:p>
          <a:p>
            <a:r>
              <a:rPr lang="en-US" dirty="0"/>
              <a:t>Apply all learned steps</a:t>
            </a:r>
          </a:p>
          <a:p>
            <a:r>
              <a:rPr lang="en-US" dirty="0"/>
              <a:t>Present &amp; discuss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8453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9595-AE29-8F78-6250-FE6DBB183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FB830E-06C9-E616-457D-0469587FD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EFBF3-5437-9432-6F3C-E9696BAED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D0A7-A4B8-8D6A-B20D-D4EED41F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5C235-37A2-169F-89F1-6CEEDE74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38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3155-3098-3396-23EF-4D00FB95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B2B4-2744-4FA6-1DCE-04083BE85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AA7CE-1D79-8F9E-2161-29793B3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907A2-F4AA-C22D-91E7-6BACD48B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D31A0-F851-DC6F-6FAE-179D6AAB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898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2BBF6-43C8-1202-C842-3AEB0A79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E51AA-9DDF-9B9E-C7A3-804260F61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6152C-741A-690F-95E2-4CEEA150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A4312-5CEF-0E6E-F0FC-2158396D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B96-F2F1-AD45-314A-F5DA6562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20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8164-1E83-B846-266B-64E7E034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6D78-13A3-57B9-A9E6-4C101CB19A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8BB16-6D83-DE01-79A2-554AB22A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EB16E-8897-8C72-0C20-5DC3F49B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38E4E-E4C2-594D-0EE2-5C3B7396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E9FD8-C8E1-4BD4-A517-B0ADD51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0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6434-7761-D029-FB66-4F80A49D2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CFE8E-4227-8C0A-BD8C-41F2C2A45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8F3CFA-B49D-50D6-2E0E-49392FCB2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E9783-D65C-C0F6-AABC-EF1ECF7CC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FE071-5FD8-2DB5-E332-AC4CDBA99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764CB-223F-2456-6217-BD105CBD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3798B-ECD3-32E9-9B74-6D761E3A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2443F-87BD-CFD1-8A4C-CA0D911E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1713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B514-5C0F-91C8-9086-96E98E2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467521-6441-49DD-657C-A9F9ECCE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29684F-ADC5-40EE-29F5-352B32B7C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7310E-84BC-1668-4738-8C6506C2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2730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B1DE42-EFFF-52A5-9069-2558A060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6EE09-01B8-5E7D-A9AC-ECED3892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3AEB-9C93-CF86-D334-CE30895D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140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63A1B-8068-C274-CEAF-492A5CC6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DB75-B5C7-6302-3091-FF9573490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3D8E1-0759-B964-DB0B-A80FF1603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8116D-4DFE-FAC6-4C4B-A53BD3CFD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CF31FB-ED89-D4B0-A7DA-C57424FE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EBD40-61C2-7E15-336F-F34935FD7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0479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10F3-140C-EFEB-F2FA-739E5E7D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E401B-004D-0780-B8E4-3F1FB20EAB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3150E9-B00B-0542-A850-0B34BE69F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C802-98E2-7466-6330-33716392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EB337-7B9A-EE26-F59D-F3FBC68B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4C702-6F8D-DDAE-83A4-E9A2ADCE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0385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0964-B1E6-1C1B-491D-8D87B53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A3D5C-B633-CC1B-AA44-E499C1CBE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A48F7-B899-0EA5-94AE-D4B3533A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3F8E2-1843-33D6-C8C9-6A5720DF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F2A81-7DFE-29D5-C375-A137C255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63602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90F015-E7EA-2A69-6323-A3EB90C82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3ACB86-CF84-A074-9A1F-2F408DD4E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30080-38B2-3A79-5209-5EEE297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CF3C8-BDA0-EBA1-09D5-D77B02FE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075F-0BE7-8E63-5582-D8F0FED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5657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28348-1E0F-4158-DFB4-4EF9E069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52730-C780-711F-8EC9-A46588BC7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E76EE-5EE3-0069-FE21-07534E8C3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AFFDE-209F-EABB-F557-E838A5D21E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54F25-00E5-EC11-F2EE-A05BD6D65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94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DE9CF-4789-C34E-EAA9-7E845897C4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 err="1">
                <a:solidFill>
                  <a:schemeClr val="accent1">
                    <a:lumMod val="75000"/>
                  </a:schemeClr>
                </a:solidFill>
              </a:rPr>
              <a:t>Datenanalyse</a:t>
            </a:r>
            <a:b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b="1" dirty="0"/>
              <a:t>Data Analysis</a:t>
            </a:r>
            <a:endParaRPr lang="LID4096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4D9C2-3BE3-768E-873A-FCAB40044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9213"/>
          </a:xfrm>
        </p:spPr>
        <p:txBody>
          <a:bodyPr>
            <a:normAutofit lnSpcReduction="10000"/>
          </a:bodyPr>
          <a:lstStyle/>
          <a:p>
            <a:br>
              <a:rPr lang="en-US" sz="3600" b="1" dirty="0"/>
            </a:br>
            <a:r>
              <a:rPr lang="en-US" sz="3600" b="1" dirty="0" err="1"/>
              <a:t>Grundlagen</a:t>
            </a:r>
            <a:r>
              <a:rPr lang="en-US" sz="3600" b="1" dirty="0"/>
              <a:t> | Excel | SQL | Power BI | Python</a:t>
            </a:r>
            <a:endParaRPr lang="LID4096" sz="3600" b="1" dirty="0"/>
          </a:p>
        </p:txBody>
      </p:sp>
    </p:spTree>
    <p:extLst>
      <p:ext uri="{BB962C8B-B14F-4D97-AF65-F5344CB8AC3E}">
        <p14:creationId xmlns:p14="http://schemas.microsoft.com/office/powerpoint/2010/main" val="3356520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43AF4DC-A281-4750-7689-04550908EEE8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Graphic 6" descr="Question mark">
            <a:extLst>
              <a:ext uri="{FF2B5EF4-FFF2-40B4-BE49-F238E27FC236}">
                <a16:creationId xmlns:a16="http://schemas.microsoft.com/office/drawing/2014/main" id="{3CD82926-BF69-61BA-A2B8-AE13D07699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F748B9C-7513-93B1-01D3-D7DFFC032034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2E64AC7-D27B-6A45-ACD8-B06D8517723B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0F39061-D5C5-812E-6950-4B8E8B63B5C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9" name="Graphic 8" descr="Database">
              <a:extLst>
                <a:ext uri="{FF2B5EF4-FFF2-40B4-BE49-F238E27FC236}">
                  <a16:creationId xmlns:a16="http://schemas.microsoft.com/office/drawing/2014/main" id="{476B54AC-BFD5-F800-D135-AD5B57514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DFA633-3341-86B8-27F8-C87ACA044166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1494EC8-C6E2-9439-105B-EAC73E3DA858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9" name="Graphic 18" descr="Checklist">
            <a:extLst>
              <a:ext uri="{FF2B5EF4-FFF2-40B4-BE49-F238E27FC236}">
                <a16:creationId xmlns:a16="http://schemas.microsoft.com/office/drawing/2014/main" id="{5674ACFB-94AF-E452-F96B-AA1A76DC1C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E7AF935-C9DA-A1C8-F302-67A8ABEAB3C3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98568F5-E42F-8BB3-A490-D5BE0EF78F44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3" name="Graphic 12" descr="Research">
            <a:extLst>
              <a:ext uri="{FF2B5EF4-FFF2-40B4-BE49-F238E27FC236}">
                <a16:creationId xmlns:a16="http://schemas.microsoft.com/office/drawing/2014/main" id="{A19EC08F-EE9E-EEC3-70FF-6AA50E2E51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87E938B-C533-53F6-0B07-680FA385DE68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C62606D-036F-F460-EAC8-BF67CF336768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5" name="Graphic 14" descr="Share">
            <a:extLst>
              <a:ext uri="{FF2B5EF4-FFF2-40B4-BE49-F238E27FC236}">
                <a16:creationId xmlns:a16="http://schemas.microsoft.com/office/drawing/2014/main" id="{FF895700-3132-0648-A450-8F1704B896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007D182-B808-E93F-8C23-74CEF8A12818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387338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524F6DF1-AF8B-B5EC-EC2F-2A121854376C}"/>
              </a:ext>
            </a:extLst>
          </p:cNvPr>
          <p:cNvSpPr txBox="1"/>
          <p:nvPr/>
        </p:nvSpPr>
        <p:spPr>
          <a:xfrm>
            <a:off x="358375" y="1490503"/>
            <a:ext cx="609668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Python, </a:t>
            </a:r>
            <a:r>
              <a:rPr lang="de-DE" sz="1400" dirty="0" err="1"/>
              <a:t>Jupzter</a:t>
            </a:r>
            <a:r>
              <a:rPr lang="de-DE" sz="1400" dirty="0"/>
              <a:t> Notebook, Bibliotheken installieren, </a:t>
            </a:r>
            <a:r>
              <a:rPr lang="de-DE" sz="1400" dirty="0" err="1"/>
              <a:t>VSCode</a:t>
            </a:r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Überblick über Datentypen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Data | Information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BAAF1-C0D6-B182-1588-C698583090A2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5A6950-109D-6924-5D77-32AA072B8DCF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9405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  <p:bldP spid="20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3379</TotalTime>
  <Words>469</Words>
  <Application>Microsoft Office PowerPoint</Application>
  <PresentationFormat>Widescreen</PresentationFormat>
  <Paragraphs>139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Datenanalyse Data Analysis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zolfagharian</dc:creator>
  <cp:lastModifiedBy>ali zolfagharian</cp:lastModifiedBy>
  <cp:revision>17</cp:revision>
  <dcterms:created xsi:type="dcterms:W3CDTF">2026-02-20T09:06:58Z</dcterms:created>
  <dcterms:modified xsi:type="dcterms:W3CDTF">2026-02-22T17:29:38Z</dcterms:modified>
</cp:coreProperties>
</file>